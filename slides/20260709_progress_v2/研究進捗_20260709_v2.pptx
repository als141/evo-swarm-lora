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よろしくお願いします。修士研究の進捗を報告します。テーマは、小さなAIを3体用意して話し合わせ、チームとして鍛えていく、というものです。今日いちばん見ていただきたいのは、実際にAIたちがどう会話しているか、その生のログです。結論から言うと、良かった点も、正直うまくいかなかった点もあります。そこも隠さずお話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全体像です。やったのは大きく3つ。1つの土台モデルに3つの性格を持たせ、互いの答えを見せ合って議論させ、チームとして賢く頑丈になるよう鍛える、というものです。調べたのは、こうした議論チームが、単純に何回も解いて多数決するやり方に勝てるのか。どんな問題で効いて、どんな問題でダメなのか。そしてダメなときの原因はどこか。今日は本物の会話ログで、うまくいく例と崩れる例の両方をお見せします。キーワードは多様性と協調ですが、正直いいことばかりではなかった、というのが裏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まず背景です。なぜ小さなAIをわざわざ話し合わせるのか、そして世の中の研究がこれについて何と言っているかを、かいつまんで説明します。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はこれまで、大きくするほど賢くなる、という流れで発展してきました。でも大きなモデルはお金も電力もかかって、無限には大きくできません。そこで注目されているのが、小さなモデルを何体か集めて協力させる方向です。実際、2024年のLiらの研究では、同じAIに何度も解かせて多数決するだけでも、体数を増やすほど成績が上がると報告されています。数の力ですね。この研究はまさに、小さなAIを3体話し合わせる立場に立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協力のやり方で有名なのが議論です。2023年のDuらの研究では、3体のAIが互いの答えを見せ合って2ラウンド考え直すと、算数テストが77から85点、知識テストが64から71点に上がった、と報告されました。一人で悩むより視点の違う相手と話す方がいい。人間の感覚にも合いますよね。同じ2023年のLiangらは、一人で反省すると同じ考えにこだわってしまう、これを思考の退化と呼び、違う視点の議論が抜け出させる、と言っています。多様な視点をぶつける価値、です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ところが、そう単純じゃない、という反論も強いんです。3つ挙げます。1つ目、SmitらのICML2024の研究。議論は何度もAIを呼ぶ手間がかかる。その同じ手間をただ何回も解いて多数決に使うと、そっちの方が強い、という指摘。これが一番手強い。2つ目、Talk isn’t Cheapという2025年の研究。自信のある正解でも多数派に流されて誤答に書き換える、追従です。3つ目、Zhangらの2025年の研究。評価の不備を正すと議論の優位は消える。効かせる鍵はメンバーの異質性だと。とくに小さいモデルでは、素朴な議論はうまくいかない可能性が高い。ここから私の研究は出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問いの核心です。これまでの改善は、ラウンド数を増やすとか集約を変えるとか、議論の進め方をいじるものが中心でした。メンバー自身は固定していたんです。でも議論の良し悪しって、結局は参加するメンバーの質と多様性で決まるはずですよね。だったら、メンバーであるAI自身を、チームへの貢献度を手がかりに鍛えられないか。これが本研究の問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では具体的にどういう仕組みなのかを説明します。3つの性格をどう作って、どう議論させて、どう鍛えるか、です。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像です。上下2段に分けました。上段が本番、1回の議論。共通の土台モデル1体に、批判・実務・探索の3つの性格を持たせ、3体が同じ問題を解いて2ラウンド議論し、最後に重み付き投票で結論を出す。下段が、本番の前にチームをどう鍛えるか。性格を持たせ、賢さを保ち、議論を頑丈にし、貢献度で選ぶ。この4ステップを、このあと順に説明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の性格を紹介します。批判は、反証や例外を疑って粗を探す役。実務は、実現性やコストで、結局どれが使えるかを判断する役。探索は、仮説や比喩で別の見方を出して選択肢を増やす役です。実際にはこれらを短い日本語の指示文で与えているだけですが、大事なのは、同じ問題をあえて違う切り口で見る3体を用意した、という点です。このあとのデモで、この3つの個性が実際に効いている様子が見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チームを鍛えるとき、個人の成績ではなくチームへの貢献を測りたいんです。そこで、あらゆる組み合わせでチームを試して、その1体が居るときと居ないときの差を平均します。協力ゲーム理論のシャープレイ値という考え方で、3体なら全7通りを実測できるので近似なしで公平に配れます。実際、面白いことが起きました。単体の成績は3体で最低なのに、チームに入れると一番伸びる個体があったんです。個人の点数だけ見ていたら捨てていた個体を、貢献度はちゃんと拾い上げた。優秀な個人の寄せ集めが最強とは限らない、という教訓そのもの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化の中身です。各AIの性格は、土台モデルに足す小さな重み、LoRAで表せます。この重みを遺伝子とみなして、貢献度の高い個体を選んで世代交代させる。交叉は良い2体の重みを混ぜて子を作る。突然変異は少しゆらす。選択は貢献度の高い個体を残す。これが研究の看板です。ただし、実際に回してみたら予想と違う結果が出ました。そこは後半の結果のところで、正直に報告します。まずは手法の続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法の5番目、ここは大事な落とし穴です。性格をむりに教え込むと副作用がありました。考える途中の説明が半分くらいに縮んでしまって、その分だけ数学が解けなくなった。マイナス13点です。原因は、短い答え方を覚えすぎたこと。対策がリプレイ、いわば復習です。元のモデル自身に長い正しい解答を作らせて、それを学習に混ぜる。性格を保ったまま、賢さを取り戻す。これで解けるように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法の最後、議論を頑丈にする3つの工夫です。1つ目、発言を匿名にする。誰の意見かを隠して、多数派や偉い人の意見に流されにくくする。2つ目、むやみに変えさせない。自分の誤りを具体的に見つけられた時だけ、答えの変更を許す。3つ目、自信を重みにする。多数決のとき、自信の高い答えを重く数える。狙いはどれも同じで、流されて正解を捨てるのを防ぐこと。このあとのデモで、まさにその崩れる実例が出て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ここからが今日のメインです。実際にAIたちがどう会話しているか、本物のログをお見せします。うまくいく例、次に崩れる例。スライドを送るごとに会話が進みます。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の見方です。3ステップ。まず3体が別々に解いて答えを出す。次に互いの答えと理由を読んで考え直す。最後に重み付き投票で結論を決める。これから見せるのは、すべて本研究のLoRAチームが実際に記録した会話です。英語なので日本語に要約していますが、原文の一部も載せています。まずはうまくいく例、数学の問題か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題はこれです。4分の1と13分の1が、カントール集合に入るか。カントール集合とは、ざっくり言うと、3進数で書いたときに1が出てこない数の集まりです。正解は、実は両方とも入るんですが、これがなかなか難しい。3体がどう答えるか見てみ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自が解きました。批判と探索は、1/13を3進数にすると1が出るから入らない、と判断してJ。ところが実務だけは違った。1/13を0.00202…と展開して、足し合わせると本当に1/13になると検算までして、入る、と答えてH。これが正解です。でもこの時点で多数決すると、不正解のJが2票。正解が1体だけに埋もれている。あぶない状況です。普通の多数決だとここで負けます。ここから議論が始ま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議論のラウンドです。批判は、実務の検算を自分でも確かめて、確かに1は出ない、と納得してHに訂正。探索も、さっきの3進展開が間違っていた、と気づいてHに訂正。実務はそのまま正解のHを主張。結果、正解のHが多数派に逆転しました。少数派だった正解が、検算という確かめられる根拠を通じてチーム全体を動かした。これが議論のいい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例が示すのは、多数決だけなら負けていた問題を、議論がひっくり返して正解にした、ということです。なぜうまくいったか。数学は答えを確かめられる領域だからです。相手の主張が正しいかを自分で検算できるので、議論がなんとなくの同調ではなく、根拠にもとづく訂正になる。逆に言えば、確かめにくい問題では、この良さは出にくい。次はその、崩れてしまう例を見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は崩れる例です。問題は身近。夫婦が長く連れ添えるいちばんの理由は何か。正解は、お互いが親友だから、です。各自が解くと、実務と探索は親友と答えて正解。批判だけが、研究を引用して、価値観の一致＝意見が合うことだ、と答えて外した。この時点では正解の親友が2票。ここまでは正しいんです。問題は次のラウンドで起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議論のラウンドです。ここで悪い方向に転がります。実務が、いや“親友”というのは価値観の一致から生まれる結果であって、より根本的なのは意見が合うことだ、と考え直して転向。探索も、友情は合意から生まれる状態にすぎない、土台は意見が合うことだ、と同じ理屈に納得して転向。批判はもともと意見の一致派。結果、正解の親友が全滅して、3体とも不正解になってしまった。もっともらしい理屈、“より根本的な理由”という深読みに引きずられて、正しかった多数派が崩れた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つのデモをまとめます。成功した数学の例は、答えを確かめられるので、検算による根拠ある訂正が起きて、少数派の正解が勝ちました。失敗した常識の例は、答えを確かめにくいので、理屈による同調が起きて、正しい多数派が崩れた。同じ議論でも、結果は問題の性質で正反対になるんです。この、領域による効き方の違いこそ、実験でも一番はっきり出た発見でした。ここから結果の話に移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ここからは実験と結果です。何を、どんな相手と、どんな環境で測ったか。そして正直な結果を報告します。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験設定です。比べた条件は4つ。①ベース単体は、土台モデル1体が普通に1回解く、出発点。②素の議論は、性格なしの同じモデル3体で議論して、議論そのものの効果を見る。③多数決9回は、同じモデルが9回バラバラに解いて多数決する、最強の比較相手。④LoRAチームが本命で、3つの性格を持たせ、賢さを保って議論・投票するチームです。テストは3種類、一般知識・数学・大学院級の科学。計算はクラウドのGPU。公平のため、同じ問題で条件どうしを対戦させ、多重比較の補正つきで検定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つ目の発見です。同じ素の議論でも、問題の種類で結果が逆転しました。数学や科学では議論すると上がる。でも一般知識では、むしろ下がってしまう。鍵は、答えを確かめられるかどうか。確かめられる問題では議論が正しい方向に働く。さっきの数学デモと同じ理屈です。この反転は、議論は効くという研究と効かないという研究の食い違いも、うまく説明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つ目、これは研究の看板の答え合わせです。正直に言います。看板だった進化を6世代回した結果、動いたのは数学だけ、プラス4.3点。他はほぼゼロでした。しかも中を調べると、重みの向きだけが回って、大きさは変わっていなかった。つまり進化は、個体を強くしたのではなく、性格を教えた時に壊れた部分を少し戻す、修復として働いていたんです。期待した選抜して強くする、ではなかった。そして同じ修復は、さっき説明したリプレイ、復習の方が確実にできた。だから最終的な最良チームは、進化ではなくリプレイで仕上げています。ここは負けを含む、正直な報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結果です。測定環境をそろえて、3条件を比べました。LoRAチーム、青い棒は、3種目ともベース単体と互角。特に数学では、最強の多数決9回に肩を並べています。ただし総合では、多数決9回にマイナス3.0点で届きませんでした。工夫を尽くしても、素朴な強敵には勝てなかった。これが正直な結果です。でも次のスライドで話しますが、これはダメだった、で終わる話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最後に、考察と結論、今後です。なぜこうなったのか、何が言えて、次に何をするかを話します。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なぜ勝てないのか。多数決9回は、独立した9票の数の力が強いんです。一方チームは、3体×2ラウンドとはいえ、実質3つの視点しかない。議論でその差を埋めきれなかった。ただし数学では互角でした。確かめられる問題では、視点が少なくても議論が補えるんです。要するに、数で押すのが有利な問題と、話し合いが活きる問題は別で、使い分けが本質だ、という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考察の2つ目。研究を通じて分かった、大事なことが2つあります。1つ目。看板だった進化は、修復にとどまりました。貢献度で選抜して強くするという当初の狙いは出ず、壊れた能力を少し戻す働きで、同じことはリプレイの方が確実だった。看板の限界を実データで突き止めた、とも言えます。2つ目。同じ問題・同じ設定なのに、評価プログラムを入れ替えただけで6点ほどズレる現象を見つけました。しかもベース側だけ過小評価されやすい。比較は必ず同じ環境で、というのは方法論としての教訓です。危うく間違った結論を出すところ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です。4点にまとめました。1つ目。チームへの貢献度で鍛える枠組みを作って、実際に動かしました。3体なら近似なしで公平に測れる、を初めて形にした。2つ目。議論の効き方は領域で決まる。確かめられる問題では効いて、そうでないと逆効果、と統一的に説明できました。3つ目。看板の進化は修復だと突き止め、賢さはリプレイという別の方法で取り戻した。4つ目。それでも多数決9回には勝てない、を厳密に確認した。正直な負けですが、条件を公平にし、環境の罠も統制した上での、信頼できる結論です。数学だけは互角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の展開です。3つ。1つ目、いいとこ取りを試す。各メンバーが数回ずつ解いてから議論する、数の力と話し合いの合わせ技。今回の結果が指す、最有力の次の一手だと思っています。2つ目、進化のやり方を鍛え直す。選抜のノイズを抑えた改良版で、進化が修復を超えて本当の発見になるか。3つ目、違う性格や違うモデルを混ぜる。本当に異質なメンバーを組ませて、多様性を最大化した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ます。小さなAIを3体、話し合わせて鍛えました。議論には効く問題と効かない問題があって、看板の進化は修復だと分かり、賢さは復習で取り戻した。ただし、素朴な強敵に勝つのは、これからの宿題です。以上で発表を終わります。ご清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以降は付録です。質疑に備えて、数値の詳細や用語の説明を用意しています。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付録の数値表です。質疑用です。測定環境をそろえた最終値で、LoRAチームはベースと互角、数学では多数決9回とも互角です。ただ総合では多数決9回に3点届かない。ここが正直なところです。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3つの性格に与えた実際の指示文です。それぞれたった1文ずつ。この短い指示だけで、デモで見たような異なる解き方が生まれる、というのは面白い点だと思います。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最後に用語のミニ辞典です。LoRA、リプレイ、多数決9回、シャープレイ値、各テスト。本編で噛み砕いた言葉の、正式な対応関係をまとめています。質疑の参考にどうぞ。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修士研究 進捗報告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22303C"/>
                </a:solidFill>
                <a:latin typeface="GenEi M Gothic v2 Black"/>
                <a:ea typeface="GenEi M Gothic v2 Black"/>
                <a:cs typeface="GenEi M Gothic v2 Black"/>
              </a:rPr>
              <a:t>小さなAIを3体、話し合わせて鍛える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432304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5A6B78"/>
                </a:solidFill>
                <a:latin typeface="GenEi M Gothic v2 Medium"/>
                <a:ea typeface="GenEi M Gothic v2 Medium"/>
                <a:cs typeface="GenEi M Gothic v2 Medium"/>
              </a:rPr>
              <a:t>——「議論するAIチーム」は、素朴なやり方に勝てるのか？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Evolutionary Optimization of LoRA Agent Populations</a:t>
            </a:r>
            <a:r>
              <a:rPr sz="140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with Team-Level Fitness in Multi-Agent Debate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4800600"/>
            <a:ext cx="4846320" cy="0"/>
          </a:xfrm>
          <a:prstGeom prst="bentConnector3">
            <a:avLst/>
          </a:prstGeom>
          <a:ln w="16510">
            <a:solidFill>
              <a:srgbClr val="D8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50292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新潟大学 自然科学研究科　電気情報工学専攻　情報社会デザイン科学コース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舛田 岳　（学籍番号 F25C142E）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2026年7月9日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この研究を一言でいうと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「1体の賢いAI」より「3体で話し合うAI」は強いのか？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965960"/>
            <a:ext cx="3401568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401568" cy="566928"/>
          </a:xfrm>
          <a:prstGeom prst="roundRect">
            <a:avLst>
              <a:gd name="adj" fmla="val 45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3401568" cy="292608"/>
          </a:xfrm>
          <a:prstGeom prst="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34015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やったこと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761488"/>
            <a:ext cx="2852928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同じ小型AIに3つの“性格”を持たせる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互いの答えを見せ合って議論させる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チームとして賢く・頑丈になるよう鍛える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965960"/>
            <a:ext cx="3401568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2544" y="1965960"/>
            <a:ext cx="3401568" cy="566928"/>
          </a:xfrm>
          <a:prstGeom prst="roundRect">
            <a:avLst>
              <a:gd name="adj" fmla="val 4500"/>
            </a:avLst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2240280"/>
            <a:ext cx="3401568" cy="292608"/>
          </a:xfrm>
          <a:prstGeom prst="rect">
            <a:avLst/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965960"/>
            <a:ext cx="34015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調べたこと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761488"/>
            <a:ext cx="2852928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議論チームは、単純な多数決に勝てるか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どんな問題なら議論が効く／効かないか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うまくいかない原因はどこにあるか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7848" y="1965960"/>
            <a:ext cx="3401568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397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27848" y="1965960"/>
            <a:ext cx="3401568" cy="566928"/>
          </a:xfrm>
          <a:prstGeom prst="roundRect">
            <a:avLst>
              <a:gd name="adj" fmla="val 45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7848" y="2240280"/>
            <a:ext cx="3401568" cy="292608"/>
          </a:xfrm>
          <a:prstGeom prst="rect">
            <a:avLst/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1965960"/>
            <a:ext cx="34015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今日の見どころ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761488"/>
            <a:ext cx="2852928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>
                <a:solidFill>
                  <a:srgbClr val="3F7D5A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本物の会話ログでAIの議論を実演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>
                <a:solidFill>
                  <a:srgbClr val="3F7D5A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成功する例と、崩れる例の両方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>
                <a:solidFill>
                  <a:srgbClr val="3F7D5A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正直な結果と、その理由の分析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キーワードは </a:t>
            </a:r>
            <a:r>
              <a:rPr sz="15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「多様性」と「協調」</a:t>
            </a:r>
            <a:r>
              <a:rPr sz="15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。ただし、いいことばかりではありませんでした。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1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51460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>
                <a:solidFill>
                  <a:srgbClr val="C67A4E"/>
                </a:solidFill>
                <a:latin typeface="GenEi M Gothic v2 Black"/>
                <a:ea typeface="GenEi M Gothic v2 Black"/>
                <a:cs typeface="GenEi M Gothic v2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4612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0">
                <a:solidFill>
                  <a:srgbClr val="FFFFFF"/>
                </a:solidFill>
                <a:latin typeface="GenEi M Gothic v2 Black"/>
                <a:ea typeface="GenEi M Gothic v2 Black"/>
                <a:cs typeface="GenEi M Gothic v2 Black"/>
              </a:rPr>
              <a:t>背景と問い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7CED4"/>
                </a:solidFill>
                <a:latin typeface="GenEi M Gothic v2 Regular"/>
                <a:ea typeface="GenEi M Gothic v2 Regular"/>
                <a:cs typeface="GenEi M Gothic v2 Regular"/>
              </a:rPr>
              <a:t>なぜ「小さなAIを話し合わせる」のか。先行研究は何と言っているか。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背景①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モデルは「大きくすれば勝ち」なのか？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783080"/>
            <a:ext cx="64008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これまでのAIは、</a:t>
            </a:r>
            <a:r>
              <a:rPr sz="17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大きくするほど賢くなってきました</a:t>
            </a:r>
            <a:r>
              <a:rPr sz="17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でも大きなモデルは、動かすのにお金も電力もかかる。際限なく大きくする道には限界があります。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そこで別の方向として、</a:t>
            </a:r>
            <a:r>
              <a:rPr sz="16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小さなモデルを何体か集めて協力させる</a:t>
            </a:r>
            <a:r>
              <a:rPr sz="16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考え方が注目されています。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実際、同じAIに何度も解かせて多数決するだけでも、体数を増やすほど成績が上がると報告されています。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12080"/>
            <a:ext cx="6400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出典：Liら（2024）「More Agents Is All You Need」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9659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084831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B78"/>
                </a:solidFill>
                <a:latin typeface="GenEi M Gothic v2 Bold"/>
                <a:ea typeface="GenEi M Gothic v2 Bold"/>
                <a:cs typeface="GenEi M Gothic v2 Bold"/>
              </a:rPr>
              <a:t>これまで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487168"/>
            <a:ext cx="3566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🧠 1体の巨大モデル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56616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977639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2E6E8E"/>
          </a:solidFill>
          <a:ln>
            <a:noFill/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411480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D9E6EC"/>
                </a:solidFill>
                <a:latin typeface="GenEi M Gothic v2 Bold"/>
                <a:ea typeface="GenEi M Gothic v2 Bold"/>
                <a:cs typeface="GenEi M Gothic v2 Bold"/>
              </a:rPr>
              <a:t>この研究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526280"/>
            <a:ext cx="3566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🤝 小さなAI×3体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で話し合う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2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背景②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「AI同士で議論させると賢くなる」という報告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783080"/>
            <a:ext cx="5166360" cy="3566160"/>
          </a:xfrm>
          <a:prstGeom prst="roundRect">
            <a:avLst>
              <a:gd name="adj" fmla="val 5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18872" cy="3566160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3B6EA5"/>
                </a:solidFill>
                <a:latin typeface="GenEi M Gothic v2 Bold"/>
                <a:ea typeface="GenEi M Gothic v2 Bold"/>
                <a:cs typeface="GenEi M Gothic v2 Bold"/>
              </a:rPr>
              <a:t>Duら（2023）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4617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3体のAIが、互いの答えを見せ合いながら2ラウンド考え直すと精度が上がった。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>
                <a:solidFill>
                  <a:srgbClr val="22303C"/>
                </a:solidFill>
                <a:latin typeface="GenEi M Gothic v2 Medium"/>
                <a:ea typeface="GenEi M Gothic v2 Medium"/>
                <a:cs typeface="GenEi M Gothic v2 Medium"/>
              </a:rPr>
              <a:t>算数テスト（GSM8K）</a:t>
            </a:r>
            <a:r>
              <a:rPr sz="1500" b="0">
                <a:solidFill>
                  <a:srgbClr val="3F7D5A"/>
                </a:solidFill>
                <a:latin typeface="GenEi M Gothic v2 Bold"/>
                <a:ea typeface="GenEi M Gothic v2 Bold"/>
                <a:cs typeface="GenEi M Gothic v2 Bold"/>
              </a:rPr>
              <a:t>　77 → 85点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>
                <a:solidFill>
                  <a:srgbClr val="22303C"/>
                </a:solidFill>
                <a:latin typeface="GenEi M Gothic v2 Medium"/>
                <a:ea typeface="GenEi M Gothic v2 Medium"/>
                <a:cs typeface="GenEi M Gothic v2 Medium"/>
              </a:rPr>
              <a:t>知識テスト（MMLU）</a:t>
            </a:r>
            <a:r>
              <a:rPr sz="1500" b="0">
                <a:solidFill>
                  <a:srgbClr val="3F7D5A"/>
                </a:solidFill>
                <a:latin typeface="GenEi M Gothic v2 Bold"/>
                <a:ea typeface="GenEi M Gothic v2 Bold"/>
                <a:cs typeface="GenEi M Gothic v2 Bold"/>
              </a:rPr>
              <a:t>　64 → 71点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＝「一人で悩むより、視点の違う相手と話す方がよい」という直感に合う。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166360" cy="3566160"/>
          </a:xfrm>
          <a:prstGeom prst="roundRect">
            <a:avLst>
              <a:gd name="adj" fmla="val 5000"/>
            </a:avLst>
          </a:prstGeom>
          <a:solidFill>
            <a:srgbClr val="F1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1783080"/>
            <a:ext cx="118872" cy="3566160"/>
          </a:xfrm>
          <a:prstGeom prst="roundRect">
            <a:avLst>
              <a:gd name="adj" fmla="val 50000"/>
            </a:avLst>
          </a:prstGeom>
          <a:solidFill>
            <a:srgbClr val="8E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8E6BB0"/>
                </a:solidFill>
                <a:latin typeface="GenEi M Gothic v2 Bold"/>
                <a:ea typeface="GenEi M Gothic v2 Bold"/>
                <a:cs typeface="GenEi M Gothic v2 Bold"/>
              </a:rPr>
              <a:t>Liangら（2023）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4617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一人で反省すると、同じ考えにこだわり続けてしまう（“思考の退化”）。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違う視点の相手とぶつけ合う議論が、その行き詰まりから抜け出させる。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＝多様な視点をぶつけることに価値がある、という主張。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3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背景③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——ところが「そんなに良くない」という反論も強い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28800"/>
            <a:ext cx="1051560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18872" cy="1207008"/>
          </a:xfrm>
          <a:prstGeom prst="roundRect">
            <a:avLst>
              <a:gd name="adj" fmla="val 50000"/>
            </a:avLst>
          </a:prstGeom>
          <a:solidFill>
            <a:srgbClr val="B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B4553F"/>
                </a:solidFill>
                <a:latin typeface="GenEi M Gothic v2 Bold"/>
                <a:ea typeface="GenEi M Gothic v2 Bold"/>
                <a:cs typeface="GenEi M Gothic v2 Bold"/>
              </a:rPr>
              <a:t>計算量をそろえると勝てない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14016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議論は何度もAIを呼ぶ。同じ手間を“ただ何回も解いて多数決”に使うと、そちらが強い。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965960"/>
            <a:ext cx="2057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Smitら（ICML 2024）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63824"/>
            <a:ext cx="1051560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4"/>
            <a:ext cx="118872" cy="1207008"/>
          </a:xfrm>
          <a:prstGeom prst="roundRect">
            <a:avLst>
              <a:gd name="adj" fmla="val 50000"/>
            </a:avLst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00984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B88A3D"/>
                </a:solidFill>
                <a:latin typeface="GenEi M Gothic v2 Bold"/>
                <a:ea typeface="GenEi M Gothic v2 Bold"/>
                <a:cs typeface="GenEi M Gothic v2 Bold"/>
              </a:rPr>
              <a:t>相手に流されて間違える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39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自信のある正解でも、多数派の空気に合わせて誤答に書き換えてしまう（“追従”）。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300984"/>
            <a:ext cx="2057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「Talk isn’t Cheap」（2025）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98848"/>
            <a:ext cx="1051560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498848"/>
            <a:ext cx="118872" cy="1207008"/>
          </a:xfrm>
          <a:prstGeom prst="roundRect">
            <a:avLst>
              <a:gd name="adj" fmla="val 50000"/>
            </a:avLst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63600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5A6B78"/>
                </a:solidFill>
                <a:latin typeface="GenEi M Gothic v2 Bold"/>
                <a:ea typeface="GenEi M Gothic v2 Bold"/>
                <a:cs typeface="GenEi M Gothic v2 Bold"/>
              </a:rPr>
              <a:t>評価を正すと優位が消える／鍵は“異質性”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84064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評価の不備を正すと議論の優位は消える。効かせる鍵はメンバーの多様性・異質性だと指摘。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636008"/>
            <a:ext cx="2057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Zhangら（2025）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→ とくに </a:t>
            </a:r>
            <a:r>
              <a:rPr sz="1350" b="0">
                <a:solidFill>
                  <a:srgbClr val="B4553F"/>
                </a:solidFill>
                <a:latin typeface="GenEi M Gothic v2 Bold"/>
                <a:ea typeface="GenEi M Gothic v2 Bold"/>
                <a:cs typeface="GenEi M Gothic v2 Bold"/>
              </a:rPr>
              <a:t>小さいモデルでは、素朴な議論はうまくいかない可能性が高い</a:t>
            </a: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。ここが出発点。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4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背景④・本研究の問い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既存研究は「メンバーを固定」して議論のやり方だけ工夫してきた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78308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これまでの改善は、</a:t>
            </a:r>
            <a:r>
              <a:rPr sz="16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ラウンド数や集約方法など“議論の進め方”をいじる</a:t>
            </a:r>
            <a:r>
              <a:rPr sz="16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ものが中心でした。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でも、議論の良し悪しは</a:t>
            </a:r>
            <a:r>
              <a:rPr sz="16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参加するメンバー自身の質と多様性</a:t>
            </a:r>
            <a:r>
              <a:rPr sz="16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に強く左右されるはず。だったら——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57600"/>
            <a:ext cx="10515600" cy="1920240"/>
          </a:xfrm>
          <a:prstGeom prst="roundRect">
            <a:avLst>
              <a:gd name="adj" fmla="val 5000"/>
            </a:avLst>
          </a:prstGeom>
          <a:solidFill>
            <a:srgbClr val="2E6E8E"/>
          </a:solidFill>
          <a:ln>
            <a:noFill/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977639"/>
            <a:ext cx="9784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CFE1E9"/>
                </a:solidFill>
                <a:latin typeface="GenEi M Gothic v2 Bold"/>
                <a:ea typeface="GenEi M Gothic v2 Bold"/>
                <a:cs typeface="GenEi M Gothic v2 Bold"/>
              </a:rPr>
              <a:t>本研究の問い</a:t>
            </a:r>
            <a:r>
              <a:rPr sz="21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メンバー（AI）自身を、“チームへの貢献度”を手がかりに鍛えられないか？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5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51460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>
                <a:solidFill>
                  <a:srgbClr val="C67A4E"/>
                </a:solidFill>
                <a:latin typeface="GenEi M Gothic v2 Black"/>
                <a:ea typeface="GenEi M Gothic v2 Black"/>
                <a:cs typeface="GenEi M Gothic v2 Blac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4612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0">
                <a:solidFill>
                  <a:srgbClr val="FFFFFF"/>
                </a:solidFill>
                <a:latin typeface="GenEi M Gothic v2 Black"/>
                <a:ea typeface="GenEi M Gothic v2 Black"/>
                <a:cs typeface="GenEi M Gothic v2 Black"/>
              </a:rPr>
              <a:t>提案手法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7CED4"/>
                </a:solidFill>
                <a:latin typeface="GenEi M Gothic v2 Regular"/>
                <a:ea typeface="GenEi M Gothic v2 Regular"/>
                <a:cs typeface="GenEi M Gothic v2 Regular"/>
              </a:rPr>
              <a:t>3つの性格をどう作り、どう議論させ、どう鍛えるか。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手法①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全体像：1回の議論と、チームの鍛え方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5544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① 1回の議論（本番で問題を解くとき）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1C2833"/>
          </a:solidFill>
          <a:ln>
            <a:noFill/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783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土台モデル</a:t>
            </a:r>
            <a:r>
              <a:rPr sz="1100" b="0">
                <a:solidFill>
                  <a:srgbClr val="C7CED4"/>
                </a:solidFill>
                <a:latin typeface="GenEi M Gothic v2 Regular"/>
                <a:ea typeface="GenEi M Gothic v2 Regular"/>
                <a:cs typeface="GenEi M Gothic v2 Regular"/>
              </a:rPr>
              <a:t/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7CED4"/>
                </a:solidFill>
                <a:latin typeface="GenEi M Gothic v2 Regular"/>
                <a:ea typeface="GenEi M Gothic v2 Regular"/>
                <a:cs typeface="GenEi M Gothic v2 Regular"/>
              </a:rPr>
              <a:t>Qwen3-4B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7CED4"/>
                </a:solidFill>
                <a:latin typeface="GenEi M Gothic v2 Regular"/>
                <a:ea typeface="GenEi M Gothic v2 Regular"/>
                <a:cs typeface="GenEi M Gothic v2 Regular"/>
              </a:rPr>
              <a:t>（共通の1体）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993392"/>
            <a:ext cx="1371600" cy="420624"/>
          </a:xfrm>
          <a:prstGeom prst="roundRect">
            <a:avLst>
              <a:gd name="adj" fmla="val 40000"/>
            </a:avLst>
          </a:prstGeom>
          <a:solidFill>
            <a:srgbClr val="ECF1F7"/>
          </a:solidFill>
          <a:ln w="1524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993392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B6EA5"/>
                </a:solidFill>
                <a:latin typeface="GenEi M Gothic v2 Bold"/>
                <a:ea typeface="GenEi M Gothic v2 Bold"/>
                <a:cs typeface="GenEi M Gothic v2 Bold"/>
              </a:rPr>
              <a:t>性格：批判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505456"/>
            <a:ext cx="1371600" cy="420624"/>
          </a:xfrm>
          <a:prstGeom prst="roundRect">
            <a:avLst>
              <a:gd name="adj" fmla="val 40000"/>
            </a:avLst>
          </a:prstGeom>
          <a:solidFill>
            <a:srgbClr val="EAF3EE"/>
          </a:solidFill>
          <a:ln w="15240">
            <a:solidFill>
              <a:srgbClr val="4E8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505456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E8D6E"/>
                </a:solidFill>
                <a:latin typeface="GenEi M Gothic v2 Bold"/>
                <a:ea typeface="GenEi M Gothic v2 Bold"/>
                <a:cs typeface="GenEi M Gothic v2 Bold"/>
              </a:rPr>
              <a:t>性格：実務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017520"/>
            <a:ext cx="1371600" cy="420624"/>
          </a:xfrm>
          <a:prstGeom prst="roundRect">
            <a:avLst>
              <a:gd name="adj" fmla="val 40000"/>
            </a:avLst>
          </a:prstGeom>
          <a:solidFill>
            <a:srgbClr val="F1ECF6"/>
          </a:solidFill>
          <a:ln w="15240">
            <a:solidFill>
              <a:srgbClr val="8E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3017520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E6BB0"/>
                </a:solidFill>
                <a:latin typeface="GenEi M Gothic v2 Bold"/>
                <a:ea typeface="GenEi M Gothic v2 Bold"/>
                <a:cs typeface="GenEi M Gothic v2 Bold"/>
              </a:rPr>
              <a:t>性格：探索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60" y="2761488"/>
            <a:ext cx="548640" cy="0"/>
          </a:xfrm>
          <a:prstGeom prst="bentConnector3">
            <a:avLst/>
          </a:prstGeom>
          <a:ln w="16510">
            <a:solidFill>
              <a:srgbClr val="5A6B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0" y="2148840"/>
            <a:ext cx="1691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E6E8E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286000"/>
            <a:ext cx="1691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議論</a:t>
            </a:r>
            <a:r>
              <a:rPr sz="11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/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答えを見せ合い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2ラウンド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6060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5A6B78"/>
                </a:solidFill>
                <a:latin typeface="GenEi M Gothic v2 Bold"/>
                <a:ea typeface="GenEi M Gothic v2 Bold"/>
                <a:cs typeface="GenEi M Gothic v2 Bold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148840"/>
            <a:ext cx="1691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2286000"/>
            <a:ext cx="1691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答えを集約</a:t>
            </a:r>
            <a:r>
              <a:rPr sz="110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/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重み付き投票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で最終回答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6060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5A6B78"/>
                </a:solidFill>
                <a:latin typeface="GenEi M Gothic v2 Bold"/>
                <a:ea typeface="GenEi M Gothic v2 Bold"/>
                <a:cs typeface="GenEi M Gothic v2 Bold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60604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→ 最終回答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3977639"/>
            <a:ext cx="10607040" cy="0"/>
          </a:xfrm>
          <a:prstGeom prst="bentConnector3">
            <a:avLst/>
          </a:prstGeom>
          <a:ln w="12700">
            <a:solidFill>
              <a:srgbClr val="D8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41148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② チームの鍛え方（本番の前に）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61772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1C2833"/>
          </a:solidFill>
          <a:ln>
            <a:noFill/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17720"/>
            <a:ext cx="22860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性格を持たせる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（3つのLoRA）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846320"/>
            <a:ext cx="3840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5A6B78"/>
                </a:solidFill>
                <a:latin typeface="GenEi M Gothic v2 Bold"/>
                <a:ea typeface="GenEi M Gothic v2 Bold"/>
                <a:cs typeface="GenEi M Gothic v2 Bold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93008" y="461772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2E6E8E"/>
          </a:solidFill>
          <a:ln>
            <a:noFill/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93008" y="4617720"/>
            <a:ext cx="22860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賢さを保つ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（リプレイ＝復習）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4846320"/>
            <a:ext cx="3840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5A6B78"/>
                </a:solidFill>
                <a:latin typeface="GenEi M Gothic v2 Bold"/>
                <a:ea typeface="GenEi M Gothic v2 Bold"/>
                <a:cs typeface="GenEi M Gothic v2 Bold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3056" y="461772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C67A4E"/>
          </a:solidFill>
          <a:ln>
            <a:noFill/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63056" y="4617720"/>
            <a:ext cx="22860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議論を頑丈に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（匿名化など）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4846320"/>
            <a:ext cx="3840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5A6B78"/>
                </a:solidFill>
                <a:latin typeface="GenEi M Gothic v2 Bold"/>
                <a:ea typeface="GenEi M Gothic v2 Bold"/>
                <a:cs typeface="GenEi M Gothic v2 Bold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33104" y="461772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3F7D5A"/>
          </a:solidFill>
          <a:ln>
            <a:noFill/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33104" y="4617720"/>
            <a:ext cx="22860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貢献度で選ぶ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（進化）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この後、②の各ステップを順に説明します。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6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手法②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3つの性格 —— わざと“違う考え方”をさせる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920240"/>
            <a:ext cx="340156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3401568" cy="822960"/>
          </a:xfrm>
          <a:prstGeom prst="roundRect">
            <a:avLst>
              <a:gd name="adj" fmla="val 5000"/>
            </a:avLst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77440"/>
            <a:ext cx="3401568" cy="36576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48256"/>
            <a:ext cx="3401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批判（けんしょう）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2608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3B6EA5"/>
                </a:solidFill>
                <a:latin typeface="GenEi M Gothic v2 Bold"/>
                <a:ea typeface="GenEi M Gothic v2 Bold"/>
                <a:cs typeface="GenEi M Gothic v2 Bold"/>
              </a:rPr>
              <a:t>反証・例外・境界を疑う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4440" y="3401568"/>
            <a:ext cx="2487168" cy="0"/>
          </a:xfrm>
          <a:prstGeom prst="bentConnector3">
            <a:avLst/>
          </a:prstGeom>
          <a:ln w="12700">
            <a:solidFill>
              <a:srgbClr val="D8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69848" y="361188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「本当に？ 反例はないか」と粗を探す役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920240"/>
            <a:ext cx="340156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52544" y="1920240"/>
            <a:ext cx="3401568" cy="822960"/>
          </a:xfrm>
          <a:prstGeom prst="roundRect">
            <a:avLst>
              <a:gd name="adj" fmla="val 5000"/>
            </a:avLst>
          </a:prstGeom>
          <a:solidFill>
            <a:srgbClr val="4E8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2544" y="2377440"/>
            <a:ext cx="3401568" cy="365760"/>
          </a:xfrm>
          <a:prstGeom prst="rect">
            <a:avLst/>
          </a:prstGeom>
          <a:solidFill>
            <a:srgbClr val="4E8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2544" y="2048256"/>
            <a:ext cx="3401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実務（じつむ）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292608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4E8D6E"/>
                </a:solidFill>
                <a:latin typeface="GenEi M Gothic v2 Bold"/>
                <a:ea typeface="GenEi M Gothic v2 Bold"/>
                <a:cs typeface="GenEi M Gothic v2 Bold"/>
              </a:rPr>
              <a:t>実現性とコストで判断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09744" y="3401568"/>
            <a:ext cx="2487168" cy="0"/>
          </a:xfrm>
          <a:prstGeom prst="bentConnector3">
            <a:avLst/>
          </a:prstGeom>
          <a:ln w="12700">
            <a:solidFill>
              <a:srgbClr val="D8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45152" y="361188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「結局どれが使えるか」と地に足をつける役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7848" y="1920240"/>
            <a:ext cx="340156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27848" y="1920240"/>
            <a:ext cx="3401568" cy="822960"/>
          </a:xfrm>
          <a:prstGeom prst="roundRect">
            <a:avLst>
              <a:gd name="adj" fmla="val 5000"/>
            </a:avLst>
          </a:prstGeom>
          <a:solidFill>
            <a:srgbClr val="8E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27848" y="2377440"/>
            <a:ext cx="3401568" cy="365760"/>
          </a:xfrm>
          <a:prstGeom prst="rect">
            <a:avLst/>
          </a:prstGeom>
          <a:solidFill>
            <a:srgbClr val="8E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2048256"/>
            <a:ext cx="3401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探索（たんさく）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292608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8E6BB0"/>
                </a:solidFill>
                <a:latin typeface="GenEi M Gothic v2 Bold"/>
                <a:ea typeface="GenEi M Gothic v2 Bold"/>
                <a:cs typeface="GenEi M Gothic v2 Bold"/>
              </a:rPr>
              <a:t>仮説と比喩で発想を広げる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85048" y="3401568"/>
            <a:ext cx="2487168" cy="0"/>
          </a:xfrm>
          <a:prstGeom prst="bentConnector3">
            <a:avLst/>
          </a:prstGeom>
          <a:ln w="12700">
            <a:solidFill>
              <a:srgbClr val="D8DE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0456" y="361188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「別の見方はないか」と選択肢を増やす役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実際には、これらは短い日本語の指示文で与えます（付録に原文）。大事なのは </a:t>
            </a:r>
            <a:r>
              <a:rPr sz="135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“同じ問題を、あえて違う切り口で見る3体”</a:t>
            </a: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を用意したこと。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7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手法③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貢献度の測り方：「その人が抜けたら、どれだけ困る？」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737360"/>
            <a:ext cx="60350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チームを鍛えるには、個人の成績ではなく</a:t>
            </a:r>
            <a:r>
              <a:rPr sz="16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チームへの貢献</a:t>
            </a:r>
            <a:r>
              <a:rPr sz="16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を測りたい。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そこで、</a:t>
            </a:r>
            <a:r>
              <a:rPr sz="155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あらゆる組み合わせでチームを試し、「その1体が居るときと居ないときの差」を平均</a:t>
            </a:r>
            <a:r>
              <a:rPr sz="15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します。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これは協力ゲーム理論の</a:t>
            </a:r>
            <a:r>
              <a:rPr sz="150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シャープレイ値</a:t>
            </a:r>
            <a:r>
              <a:rPr sz="15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という考え方。3体なら全7通りを実測でき、近似なしで公平に貢献度を配れます。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783080"/>
            <a:ext cx="4206240" cy="3246120"/>
          </a:xfrm>
          <a:prstGeom prst="roundRect">
            <a:avLst>
              <a:gd name="adj" fmla="val 5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9659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E8D6E"/>
                </a:solidFill>
                <a:latin typeface="GenEi M Gothic v2 Bold"/>
                <a:ea typeface="GenEi M Gothic v2 Bold"/>
                <a:cs typeface="GenEi M Gothic v2 Bold"/>
              </a:rPr>
              <a:t>実際に起きたこと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423160"/>
            <a:ext cx="37033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ある個体は、</a:t>
            </a:r>
            <a:r>
              <a:rPr sz="1400" b="0">
                <a:solidFill>
                  <a:srgbClr val="B4553F"/>
                </a:solidFill>
                <a:latin typeface="GenEi M Gothic v2 Bold"/>
                <a:ea typeface="GenEi M Gothic v2 Bold"/>
                <a:cs typeface="GenEi M Gothic v2 Bold"/>
              </a:rPr>
              <a:t>単体の成績は3体で最低</a:t>
            </a:r>
            <a:r>
              <a:rPr sz="14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でも</a:t>
            </a:r>
            <a:r>
              <a:rPr sz="1400" b="0">
                <a:solidFill>
                  <a:srgbClr val="3F7D5A"/>
                </a:solidFill>
                <a:latin typeface="GenEi M Gothic v2 Bold"/>
                <a:ea typeface="GenEi M Gothic v2 Bold"/>
                <a:cs typeface="GenEi M Gothic v2 Bold"/>
              </a:rPr>
              <a:t>チームに入れると成績が最も伸びた</a:t>
            </a:r>
            <a:r>
              <a:rPr sz="14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→ 個人の点数だけ見ていたら捨てていた個体を、</a:t>
            </a:r>
            <a:r>
              <a:rPr sz="135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貢献度は正しく拾い上げた</a:t>
            </a: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“優秀な個人の寄せ集め＝最強のチーム”とは限らない——アンサンブル学習の古典的な教訓とも一致します。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8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手法④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進化：重みを“遺伝子”とみなして鍛える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783080"/>
            <a:ext cx="10424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各AIの“性格”は、土台モデルに足す小さな重み（LoRA）で表せます。この重みを遺伝子とみなし、</a:t>
            </a:r>
            <a:r>
              <a:rPr sz="16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貢献度の高い個体を選んで世代交代</a:t>
            </a:r>
            <a:r>
              <a:rPr sz="16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させます。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08960"/>
            <a:ext cx="340156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9848" y="333756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33756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交叉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3931920"/>
            <a:ext cx="2798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貢献度の高い2体の重みを混ぜ、両方の“良さ”を引き継いだ子を作る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3108960"/>
            <a:ext cx="340156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5152" y="333756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333756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突然変異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931920"/>
            <a:ext cx="2798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重みをランダムに少しだけ変え、新しい可能性を試す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3108960"/>
            <a:ext cx="3401568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0456" y="333756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333756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選択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931920"/>
            <a:ext cx="2798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チーム貢献度（＋多様性）の高い個体を次の世代に残す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これが研究の“看板”です。ただし——</a:t>
            </a:r>
            <a:r>
              <a:rPr sz="135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実際に回してみたら予想と違う結果が出ました（後半で正直に報告します）。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9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手法⑤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落とし穴：性格を教えると“賢さ”が削れる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cot_re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583680" cy="34011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874519"/>
            <a:ext cx="374903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性格をむりに教え込むと、</a:t>
            </a:r>
            <a:r>
              <a:rPr sz="1450" b="0">
                <a:solidFill>
                  <a:srgbClr val="B4553F"/>
                </a:solidFill>
                <a:latin typeface="GenEi M Gothic v2 Bold"/>
                <a:ea typeface="GenEi M Gothic v2 Bold"/>
                <a:cs typeface="GenEi M Gothic v2 Bold"/>
              </a:rPr>
              <a:t>考える途中の説明が半分に縮み</a:t>
            </a: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、数学が解けなくなりました（−13点）。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原因は「短い答え方」を覚えすぎたこと。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対策 ＝ </a:t>
            </a:r>
            <a:r>
              <a:rPr sz="145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リプレイ（復習）</a:t>
            </a: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。元のモデル自身に“長い正しい解答”を作らせ、学習に混ぜて賢さを取り戻す。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10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手法⑥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議論を“頑丈”にする3つの工夫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74519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28016" cy="1188720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39112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3B6EA5"/>
                </a:solidFill>
                <a:latin typeface="GenEi M Gothic v2 Bold"/>
                <a:ea typeface="GenEi M Gothic v2 Bold"/>
                <a:cs typeface="GenEi M Gothic v2 Bold"/>
              </a:rPr>
              <a:t>発言を匿名にする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「誰の意見か」を隠して議論する。多数派や“偉い人”の意見に流されにくくする。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3209544"/>
            <a:ext cx="128016" cy="1188720"/>
          </a:xfrm>
          <a:prstGeom prst="roundRect">
            <a:avLst>
              <a:gd name="adj" fmla="val 50000"/>
            </a:avLst>
          </a:prstGeom>
          <a:solidFill>
            <a:srgbClr val="4E8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74136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4E8D6E"/>
                </a:solidFill>
                <a:latin typeface="GenEi M Gothic v2 Bold"/>
                <a:ea typeface="GenEi M Gothic v2 Bold"/>
                <a:cs typeface="GenEi M Gothic v2 Bold"/>
              </a:rPr>
              <a:t>むやみに変えさせない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9624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自分の誤りを具体的に見つけられた時だけ、答えの変更を許す（条件つき更新）。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44568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544568"/>
            <a:ext cx="128016" cy="1188720"/>
          </a:xfrm>
          <a:prstGeom prst="roundRect">
            <a:avLst>
              <a:gd name="adj" fmla="val 50000"/>
            </a:avLst>
          </a:prstGeom>
          <a:solidFill>
            <a:srgbClr val="8E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59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8E6BB0"/>
                </a:solidFill>
                <a:latin typeface="GenEi M Gothic v2 Bold"/>
                <a:ea typeface="GenEi M Gothic v2 Bold"/>
                <a:cs typeface="GenEi M Gothic v2 Bold"/>
              </a:rPr>
              <a:t>自信を重みにする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84648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多数決のとき、自信の高い答えを重く数える（重み付き投票）。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狙いはどれも同じ——</a:t>
            </a:r>
            <a:r>
              <a:rPr sz="135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“流されて正解を捨てる”のを防ぐ</a:t>
            </a: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（このあとのデモで、崩れる実例が出ます）。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11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51460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>
                <a:solidFill>
                  <a:srgbClr val="C67A4E"/>
                </a:solidFill>
                <a:latin typeface="GenEi M Gothic v2 Black"/>
                <a:ea typeface="GenEi M Gothic v2 Black"/>
                <a:cs typeface="GenEi M Gothic v2 Black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4612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0">
                <a:solidFill>
                  <a:srgbClr val="FFFFFF"/>
                </a:solidFill>
                <a:latin typeface="GenEi M Gothic v2 Black"/>
                <a:ea typeface="GenEi M Gothic v2 Black"/>
                <a:cs typeface="GenEi M Gothic v2 Black"/>
              </a:rPr>
              <a:t>実際の会話を見る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7CED4"/>
                </a:solidFill>
                <a:latin typeface="GenEi M Gothic v2 Regular"/>
                <a:ea typeface="GenEi M Gothic v2 Regular"/>
                <a:cs typeface="GenEi M Gothic v2 Regular"/>
              </a:rPr>
              <a:t>ここからは本物のログ。AIたちが議論して、正解にたどり着く（時に、崩れる）。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デモの見方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3体が同じ問題を解き、答えを見せ合って考え直す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2103120"/>
            <a:ext cx="34015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C2833"/>
                </a:solidFill>
                <a:latin typeface="GenEi M Gothic v2 Bold"/>
                <a:ea typeface="GenEi M Gothic v2 Bold"/>
                <a:cs typeface="GenEi M Gothic v2 Bold"/>
              </a:rPr>
              <a:t>① 各自が解く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971800"/>
            <a:ext cx="2798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3体が別々に問題を解き、それぞれ答えを出す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97480"/>
            <a:ext cx="256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5A6B78"/>
                </a:solidFill>
                <a:latin typeface="GenEi M Gothic v2 Bold"/>
                <a:ea typeface="GenEi M Gothic v2 Bold"/>
                <a:cs typeface="GenEi M Gothic v2 Bold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103120"/>
            <a:ext cx="34015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33172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② 見せ合う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71800"/>
            <a:ext cx="2798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互いの答えと理由を読み、もう一度考え直す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4" y="2697480"/>
            <a:ext cx="256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5A6B78"/>
                </a:solidFill>
                <a:latin typeface="GenEi M Gothic v2 Bold"/>
                <a:ea typeface="GenEi M Gothic v2 Bold"/>
                <a:cs typeface="GenEi M Gothic v2 Bol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7848" y="2103120"/>
            <a:ext cx="340156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233172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3F7D5A"/>
                </a:solidFill>
                <a:latin typeface="GenEi M Gothic v2 Bold"/>
                <a:ea typeface="GenEi M Gothic v2 Bold"/>
                <a:cs typeface="GenEi M Gothic v2 Bold"/>
              </a:rPr>
              <a:t>③ まとめる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971800"/>
            <a:ext cx="27980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最終的な答えを重み付き投票で決める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9768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FBFAF7"/>
          </a:solidFill>
          <a:ln w="16510">
            <a:solidFill>
              <a:srgbClr val="C6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これから見せるのは、</a:t>
            </a:r>
            <a:r>
              <a:rPr sz="145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すべて本研究のLoRAチームが実際に記録した会話</a:t>
            </a: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です（英語のやりとりを日本語に要約、原文の一部も併記）。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最初は“うまくいく例”から。数学の問題です。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12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デモ・成功例 ①／④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まず問題を確認する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572768"/>
            <a:ext cx="10515600" cy="1572768"/>
          </a:xfrm>
          <a:prstGeom prst="roundRect">
            <a:avLst>
              <a:gd name="adj" fmla="val 5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B6EA5"/>
                </a:solidFill>
                <a:latin typeface="GenEi M Gothic v2 Bold"/>
                <a:ea typeface="GenEi M Gothic v2 Bold"/>
                <a:cs typeface="GenEi M Gothic v2 Bold"/>
              </a:rPr>
              <a:t>問題（数学）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84831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「1/4 と 1/13 は “カントール集合” に入る？」</a:t>
            </a:r>
            <a:r>
              <a:rPr sz="140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カントール集合 ＝ ざっくり言うと「3進数で書いたときに “1” が出てこない数」の集まり。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691640"/>
            <a:ext cx="2103120" cy="566928"/>
          </a:xfrm>
          <a:prstGeom prst="roundRect">
            <a:avLst>
              <a:gd name="adj" fmla="val 30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69164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正解：両方入る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57600"/>
            <a:ext cx="33832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3886200"/>
            <a:ext cx="1371600" cy="402336"/>
          </a:xfrm>
          <a:prstGeom prst="roundRect">
            <a:avLst>
              <a:gd name="adj" fmla="val 40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86200"/>
            <a:ext cx="1371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B6EA5"/>
                </a:solidFill>
                <a:latin typeface="GenEi M Gothic v2 Bold"/>
                <a:ea typeface="GenEi M Gothic v2 Bold"/>
                <a:cs typeface="GenEi M Gothic v2 Bold"/>
              </a:rPr>
              <a:t>批判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3383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考え中…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657600"/>
            <a:ext cx="33832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3886200"/>
            <a:ext cx="1371600" cy="402336"/>
          </a:xfrm>
          <a:prstGeom prst="roundRect">
            <a:avLst>
              <a:gd name="adj" fmla="val 40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886200"/>
            <a:ext cx="1371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4E8D6E"/>
                </a:solidFill>
                <a:latin typeface="GenEi M Gothic v2 Bold"/>
                <a:ea typeface="GenEi M Gothic v2 Bold"/>
                <a:cs typeface="GenEi M Gothic v2 Bold"/>
              </a:rPr>
              <a:t>実務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572000"/>
            <a:ext cx="3383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考え中…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3657600"/>
            <a:ext cx="33832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3880" y="3886200"/>
            <a:ext cx="1371600" cy="402336"/>
          </a:xfrm>
          <a:prstGeom prst="roundRect">
            <a:avLst>
              <a:gd name="adj" fmla="val 40000"/>
            </a:avLst>
          </a:prstGeom>
          <a:solidFill>
            <a:srgbClr val="F1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3886200"/>
            <a:ext cx="13716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8E6BB0"/>
                </a:solidFill>
                <a:latin typeface="GenEi M Gothic v2 Bold"/>
                <a:ea typeface="GenEi M Gothic v2 Bold"/>
                <a:cs typeface="GenEi M Gothic v2 Bold"/>
              </a:rPr>
              <a:t>探索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572000"/>
            <a:ext cx="3383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考え中…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13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デモ・成功例 ②／④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① 各自が解く —— この時点では“不正解”が多数派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627632"/>
            <a:ext cx="1051560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27632"/>
            <a:ext cx="109728" cy="1298448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1" y="1773936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773936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B6EA5"/>
                </a:solidFill>
                <a:latin typeface="GenEi M Gothic v2 Bold"/>
                <a:ea typeface="GenEi M Gothic v2 Bold"/>
                <a:cs typeface="GenEi M Gothic v2 Bold"/>
              </a:rPr>
              <a:t>批判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773936"/>
            <a:ext cx="7589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1/13 は3進数で1が出る…と判断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22408" y="1764792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B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22408" y="1764792"/>
            <a:ext cx="9509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J 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194560"/>
            <a:ext cx="99120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1/4 は入る。でも 1/13 は3進数にすると “1” が出るはず → 入らない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1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“…contains a 1, so 1/13 does not belong.”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54096"/>
            <a:ext cx="1051560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054096"/>
            <a:ext cx="109728" cy="1298448"/>
          </a:xfrm>
          <a:prstGeom prst="roundRect">
            <a:avLst>
              <a:gd name="adj" fmla="val 50000"/>
            </a:avLst>
          </a:prstGeom>
          <a:solidFill>
            <a:srgbClr val="4E8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3271" y="3200400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200400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E8D6E"/>
                </a:solidFill>
                <a:latin typeface="GenEi M Gothic v2 Bold"/>
                <a:ea typeface="GenEi M Gothic v2 Bold"/>
                <a:cs typeface="GenEi M Gothic v2 Bold"/>
              </a:rPr>
              <a:t>実務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200400"/>
            <a:ext cx="7589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展開して級数で検算 → 入る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22408" y="3191256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2408" y="3191256"/>
            <a:ext cx="9509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H 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621024"/>
            <a:ext cx="99120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1/4 は入る。1/13 も 0.002002…(3進) と展開でき、足し合わせると確かに 1/13。だから入る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1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“= 2/26 = 1/13 … only 0s and 2s → belongs.”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80560"/>
            <a:ext cx="1051560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4480560"/>
            <a:ext cx="109728" cy="1298448"/>
          </a:xfrm>
          <a:prstGeom prst="roundRect">
            <a:avLst>
              <a:gd name="adj" fmla="val 50000"/>
            </a:avLst>
          </a:prstGeom>
          <a:solidFill>
            <a:srgbClr val="8E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3271" y="4626864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1" y="4626864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E6BB0"/>
                </a:solidFill>
                <a:latin typeface="GenEi M Gothic v2 Bold"/>
                <a:ea typeface="GenEi M Gothic v2 Bold"/>
                <a:cs typeface="GenEi M Gothic v2 Bold"/>
              </a:rPr>
              <a:t>探索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626864"/>
            <a:ext cx="7589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批判と同じく“1が出る”と判断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22408" y="461772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B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8" y="4617720"/>
            <a:ext cx="9509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J 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5047488"/>
            <a:ext cx="991209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1/13 の3進展開に “1” が見える → 入らない、と判断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1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“…contains a 1 … answers are [1, 0].”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943600"/>
            <a:ext cx="10515600" cy="457200"/>
          </a:xfrm>
          <a:prstGeom prst="roundRect">
            <a:avLst>
              <a:gd name="adj" fmla="val 30000"/>
            </a:avLst>
          </a:prstGeom>
          <a:solidFill>
            <a:srgbClr val="B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9436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いま多数決すると… 不正解の「J」が2票。正解は“実務”1体だけに埋もれている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14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デモ・成功例 ③／④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② 見せ合う —— 検算を見た2体が“訂正”した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28800"/>
            <a:ext cx="1051560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09728" cy="1078992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1" y="1975104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975104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B6EA5"/>
                </a:solidFill>
                <a:latin typeface="GenEi M Gothic v2 Bold"/>
                <a:ea typeface="GenEi M Gothic v2 Bold"/>
                <a:cs typeface="GenEi M Gothic v2 Bold"/>
              </a:rPr>
              <a:t>批判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975104"/>
            <a:ext cx="7589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実務の検算を自分でも確かめた → 訂正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22408" y="196596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22408" y="1965960"/>
            <a:ext cx="9509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H 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395728"/>
            <a:ext cx="991209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2/27 + 2/729 + … を自分で計算したら確かに 1/13。“1” は出ない。答えを H に変える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54096"/>
            <a:ext cx="1051560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054096"/>
            <a:ext cx="109728" cy="1078992"/>
          </a:xfrm>
          <a:prstGeom prst="roundRect">
            <a:avLst>
              <a:gd name="adj" fmla="val 50000"/>
            </a:avLst>
          </a:prstGeom>
          <a:solidFill>
            <a:srgbClr val="8E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3271" y="3200400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200400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E6BB0"/>
                </a:solidFill>
                <a:latin typeface="GenEi M Gothic v2 Bold"/>
                <a:ea typeface="GenEi M Gothic v2 Bold"/>
                <a:cs typeface="GenEi M Gothic v2 Bold"/>
              </a:rPr>
              <a:t>探索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200400"/>
            <a:ext cx="7589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批判の展開ミスに気づいた → 訂正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22408" y="3191256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2408" y="3191256"/>
            <a:ext cx="9509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H 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621024"/>
            <a:ext cx="991209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さっきの3進展開は誤り。正しくは 0.002002… で “1” を含まない。H に変える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79392"/>
            <a:ext cx="1051560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4279392"/>
            <a:ext cx="109728" cy="1078992"/>
          </a:xfrm>
          <a:prstGeom prst="roundRect">
            <a:avLst>
              <a:gd name="adj" fmla="val 50000"/>
            </a:avLst>
          </a:prstGeom>
          <a:solidFill>
            <a:srgbClr val="4E8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3271" y="4425696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1" y="4425696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E8D6E"/>
                </a:solidFill>
                <a:latin typeface="GenEi M Gothic v2 Bold"/>
                <a:ea typeface="GenEi M Gothic v2 Bold"/>
                <a:cs typeface="GenEi M Gothic v2 Bold"/>
              </a:rPr>
              <a:t>実務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425696"/>
            <a:ext cx="7589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そのまま（正解を主張し続ける）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22408" y="4416552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8" y="4416552"/>
            <a:ext cx="9509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H 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4846320"/>
            <a:ext cx="991209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展開と検算は合っている。両方カントール集合に入る＝H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943600"/>
            <a:ext cx="10515600" cy="457200"/>
          </a:xfrm>
          <a:prstGeom prst="roundRect">
            <a:avLst>
              <a:gd name="adj" fmla="val 30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9436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正解の「H」が多数派に逆転 —— 少数派だった正解が、検算を通じてチームを動かした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15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デモ・成功例 ④／④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この例が示すこと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92024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多数決だけなら負けていた問題を、</a:t>
            </a:r>
            <a:r>
              <a:rPr sz="1800" b="0">
                <a:solidFill>
                  <a:srgbClr val="3F7D5A"/>
                </a:solidFill>
                <a:latin typeface="GenEi M Gothic v2 Bold"/>
                <a:ea typeface="GenEi M Gothic v2 Bold"/>
                <a:cs typeface="GenEi M Gothic v2 Bold"/>
              </a:rPr>
              <a:t>議論がひっくり返して正解にした</a:t>
            </a:r>
            <a:r>
              <a:rPr sz="18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17520"/>
            <a:ext cx="10515600" cy="2194560"/>
          </a:xfrm>
          <a:prstGeom prst="roundRect">
            <a:avLst>
              <a:gd name="adj" fmla="val 5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9875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4E8D6E"/>
                </a:solidFill>
                <a:latin typeface="GenEi M Gothic v2 Bold"/>
                <a:ea typeface="GenEi M Gothic v2 Bold"/>
                <a:cs typeface="GenEi M Gothic v2 Bold"/>
              </a:rPr>
              <a:t>なぜうまくいったのか</a:t>
            </a:r>
            <a:r>
              <a:rPr sz="17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数学は「答えを確かめられる」領域だから。</a:t>
            </a:r>
            <a:r>
              <a:rPr sz="15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相手の主張が正しいかを自分で検算できるので、議論が“なんとなくの同調”ではなく“根拠にもとづく訂正”になる。</a:t>
            </a:r>
            <a:r>
              <a:rPr sz="14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逆に言えば、確かめにくい問題では、この良さは出にくい——次はその例。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16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デモ・失敗例 ①／③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次は“崩れる”例 —— 身近な常識問題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572768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F1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556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8E6BB0"/>
                </a:solidFill>
                <a:latin typeface="GenEi M Gothic v2 Bold"/>
                <a:ea typeface="GenEi M Gothic v2 Bold"/>
                <a:cs typeface="GenEi M Gothic v2 Bold"/>
              </a:rPr>
              <a:t>問題（常識・心理）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「夫婦が長く連れ添える “いちばんの理由” は？」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691640"/>
            <a:ext cx="2286000" cy="566928"/>
          </a:xfrm>
          <a:prstGeom prst="roundRect">
            <a:avLst>
              <a:gd name="adj" fmla="val 30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69164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正解：親友だから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0040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200400"/>
            <a:ext cx="109728" cy="822960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33271" y="3346704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46704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B6EA5"/>
                </a:solidFill>
                <a:latin typeface="GenEi M Gothic v2 Bold"/>
                <a:ea typeface="GenEi M Gothic v2 Bold"/>
                <a:cs typeface="GenEi M Gothic v2 Bold"/>
              </a:rPr>
              <a:t>批判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346704"/>
            <a:ext cx="7589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研究を引用しつつ“意見が合う”を選ぶ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22408" y="333756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B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2408" y="3337560"/>
            <a:ext cx="9509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意見の一致 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3767328"/>
            <a:ext cx="9912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価値観の一致が長続きの予測因子（Gottman研究）→「ほぼ何でも意見が合う」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1480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114800"/>
            <a:ext cx="109728" cy="822960"/>
          </a:xfrm>
          <a:prstGeom prst="roundRect">
            <a:avLst>
              <a:gd name="adj" fmla="val 50000"/>
            </a:avLst>
          </a:prstGeom>
          <a:solidFill>
            <a:srgbClr val="4E8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3271" y="4261104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4261104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E8D6E"/>
                </a:solidFill>
                <a:latin typeface="GenEi M Gothic v2 Bold"/>
                <a:ea typeface="GenEi M Gothic v2 Bold"/>
                <a:cs typeface="GenEi M Gothic v2 Bold"/>
              </a:rPr>
              <a:t>実務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261104"/>
            <a:ext cx="7589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感情のつながりを重視 → 親友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22408" y="425196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22408" y="4251960"/>
            <a:ext cx="9509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親友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4681728"/>
            <a:ext cx="9912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長続きの土台は感情的な親密さ →「お互いが親友」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02920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5029200"/>
            <a:ext cx="109728" cy="822960"/>
          </a:xfrm>
          <a:prstGeom prst="roundRect">
            <a:avLst>
              <a:gd name="adj" fmla="val 50000"/>
            </a:avLst>
          </a:prstGeom>
          <a:solidFill>
            <a:srgbClr val="8E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33271" y="5175504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1" y="5175504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E6BB0"/>
                </a:solidFill>
                <a:latin typeface="GenEi M Gothic v2 Bold"/>
                <a:ea typeface="GenEi M Gothic v2 Bold"/>
                <a:cs typeface="GenEi M Gothic v2 Bold"/>
              </a:rPr>
              <a:t>探索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175504"/>
            <a:ext cx="7589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同じく親友を選ぶ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22408" y="516636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22408" y="5166360"/>
            <a:ext cx="9509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親友 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" y="5596128"/>
            <a:ext cx="9912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深い結びつきの核は友情 →「お互いが親友」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897880"/>
            <a:ext cx="10515600" cy="457200"/>
          </a:xfrm>
          <a:prstGeom prst="roundRect">
            <a:avLst>
              <a:gd name="adj" fmla="val 30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89788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① 各自が解く：正解「親友」が2票 —— ここまでは正しい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17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デモ・失敗例 ②／③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② 見せ合う —— “もっともらしい理屈”に流された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2148840"/>
            <a:ext cx="105156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09728" cy="896112"/>
          </a:xfrm>
          <a:prstGeom prst="roundRect">
            <a:avLst>
              <a:gd name="adj" fmla="val 50000"/>
            </a:avLst>
          </a:prstGeom>
          <a:solidFill>
            <a:srgbClr val="4E8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1" y="2295144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295144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E8D6E"/>
                </a:solidFill>
                <a:latin typeface="GenEi M Gothic v2 Bold"/>
                <a:ea typeface="GenEi M Gothic v2 Bold"/>
                <a:cs typeface="GenEi M Gothic v2 Bold"/>
              </a:rPr>
              <a:t>実務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295144"/>
            <a:ext cx="7589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「親友は“一致”の結果では？」と考え直す → 転向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22408" y="228600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B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22408" y="2286000"/>
            <a:ext cx="9509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意見の一致 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715768"/>
            <a:ext cx="9912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“親友”は、価値観の一致から生まれる関係の結果。より根本的なのは「意見が合う」ことだ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27832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227832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8E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3271" y="3374136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F1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374136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E6BB0"/>
                </a:solidFill>
                <a:latin typeface="GenEi M Gothic v2 Bold"/>
                <a:ea typeface="GenEi M Gothic v2 Bold"/>
                <a:cs typeface="GenEi M Gothic v2 Bold"/>
              </a:rPr>
              <a:t>探索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374136"/>
            <a:ext cx="7589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同じ理屈に納得 → 転向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22408" y="3364992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B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2408" y="3364992"/>
            <a:ext cx="9509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意見の一致 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9912096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友情は“合意”から生まれる状態にすぎない。土台は「意見が合う」ことのはず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1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“…best friends is a state that emerges from agreement.”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62272"/>
            <a:ext cx="105156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4462272"/>
            <a:ext cx="109728" cy="896112"/>
          </a:xfrm>
          <a:prstGeom prst="roundRect">
            <a:avLst>
              <a:gd name="adj" fmla="val 50000"/>
            </a:avLst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3271" y="4608576"/>
            <a:ext cx="1298448" cy="365760"/>
          </a:xfrm>
          <a:prstGeom prst="roundRect">
            <a:avLst>
              <a:gd name="adj" fmla="val 50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1" y="4608576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B6EA5"/>
                </a:solidFill>
                <a:latin typeface="GenEi M Gothic v2 Bold"/>
                <a:ea typeface="GenEi M Gothic v2 Bold"/>
                <a:cs typeface="GenEi M Gothic v2 Bold"/>
              </a:rPr>
              <a:t>批判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608576"/>
            <a:ext cx="7589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研究の引用で“意見の一致”を維持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22408" y="4599432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B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8" y="4599432"/>
            <a:ext cx="9509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意見の一致 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5029200"/>
            <a:ext cx="99120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価値観の一致こそ予測因子（Gottman研究）＝「意見が合う」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943600"/>
            <a:ext cx="10515600" cy="457200"/>
          </a:xfrm>
          <a:prstGeom prst="roundRect">
            <a:avLst>
              <a:gd name="adj" fmla="val 30000"/>
            </a:avLst>
          </a:prstGeom>
          <a:solidFill>
            <a:srgbClr val="B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9436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正解「親友」が全滅（3体とも不正解へ）—— 正しかった多数派が理屈で崩れた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18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デモ・失敗例 ③／③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2つのデモが示すこと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965960"/>
            <a:ext cx="5074920" cy="2651760"/>
          </a:xfrm>
          <a:prstGeom prst="roundRect">
            <a:avLst>
              <a:gd name="adj" fmla="val 5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074920" cy="603504"/>
          </a:xfrm>
          <a:prstGeom prst="roundRect">
            <a:avLst>
              <a:gd name="adj" fmla="val 5000"/>
            </a:avLst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67712"/>
            <a:ext cx="5074920" cy="301752"/>
          </a:xfrm>
          <a:prstGeom prst="rect">
            <a:avLst/>
          </a:prstGeom>
          <a:solidFill>
            <a:srgbClr val="3F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5074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成功（数学）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88920"/>
            <a:ext cx="44805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F7D5A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答えを確かめられる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F7D5A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検算で“根拠ある訂正”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F7D5A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少数派の正解が勝った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074920" cy="2651760"/>
          </a:xfrm>
          <a:prstGeom prst="roundRect">
            <a:avLst>
              <a:gd name="adj" fmla="val 5000"/>
            </a:avLst>
          </a:prstGeom>
          <a:solidFill>
            <a:srgbClr val="F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5074920" cy="603504"/>
          </a:xfrm>
          <a:prstGeom prst="roundRect">
            <a:avLst>
              <a:gd name="adj" fmla="val 5000"/>
            </a:avLst>
          </a:prstGeom>
          <a:solidFill>
            <a:srgbClr val="B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267712"/>
            <a:ext cx="5074920" cy="301752"/>
          </a:xfrm>
          <a:prstGeom prst="rect">
            <a:avLst/>
          </a:prstGeom>
          <a:solidFill>
            <a:srgbClr val="B4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5074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失敗（常識）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88920"/>
            <a:ext cx="44805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B4553F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答えを確かめにくい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B4553F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理屈で“同調”が起きる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B4553F"/>
                </a:solidFill>
                <a:latin typeface="GenEi M Gothic v2 Bold"/>
                <a:ea typeface="GenEi M Gothic v2 Bold"/>
                <a:cs typeface="GenEi M Gothic v2 Bold"/>
              </a:rPr>
              <a:t>●  </a:t>
            </a: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正しい多数派が崩れた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92040"/>
            <a:ext cx="10515600" cy="1234440"/>
          </a:xfrm>
          <a:prstGeom prst="roundRect">
            <a:avLst>
              <a:gd name="adj" fmla="val 5000"/>
            </a:avLst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120640"/>
            <a:ext cx="9875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同じ“議論”でも、結果は問題の性質で正反対になる。</a:t>
            </a:r>
            <a:r>
              <a:rPr sz="1400" b="0">
                <a:solidFill>
                  <a:srgbClr val="C7CED4"/>
                </a:solidFill>
                <a:latin typeface="GenEi M Gothic v2 Regular"/>
                <a:ea typeface="GenEi M Gothic v2 Regular"/>
                <a:cs typeface="GenEi M Gothic v2 Regular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C7CED4"/>
                </a:solidFill>
                <a:latin typeface="GenEi M Gothic v2 Regular"/>
                <a:ea typeface="GenEi M Gothic v2 Regular"/>
                <a:cs typeface="GenEi M Gothic v2 Regular"/>
              </a:rPr>
              <a:t>この「領域による効き方の違い」こそ、実験でも一番はっきり出た発見でした。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19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51460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>
                <a:solidFill>
                  <a:srgbClr val="C67A4E"/>
                </a:solidFill>
                <a:latin typeface="GenEi M Gothic v2 Black"/>
                <a:ea typeface="GenEi M Gothic v2 Black"/>
                <a:cs typeface="GenEi M Gothic v2 Black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4612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0">
                <a:solidFill>
                  <a:srgbClr val="FFFFFF"/>
                </a:solidFill>
                <a:latin typeface="GenEi M Gothic v2 Black"/>
                <a:ea typeface="GenEi M Gothic v2 Black"/>
                <a:cs typeface="GenEi M Gothic v2 Black"/>
              </a:rPr>
              <a:t>実験と結果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7CED4"/>
                </a:solidFill>
                <a:latin typeface="GenEi M Gothic v2 Regular"/>
                <a:ea typeface="GenEi M Gothic v2 Regular"/>
                <a:cs typeface="GenEi M Gothic v2 Regular"/>
              </a:rPr>
              <a:t>何を・どんな相手と・どんな環境で測ったか。そして、正直な結果。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実験設定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何を・どんな相手と比べたか（4つの条件）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7830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28016" cy="1371600"/>
          </a:xfrm>
          <a:prstGeom prst="roundRect">
            <a:avLst>
              <a:gd name="adj" fmla="val 50000"/>
            </a:avLst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911095"/>
            <a:ext cx="4681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8A939E"/>
                </a:solidFill>
                <a:latin typeface="GenEi M Gothic v2 Bold"/>
                <a:ea typeface="GenEi M Gothic v2 Bold"/>
                <a:cs typeface="GenEi M Gothic v2 Bold"/>
              </a:rPr>
              <a:t>① ベース単体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313432"/>
            <a:ext cx="4590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土台モデル1体が、普通に1回解く。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770632"/>
            <a:ext cx="4590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8A939E"/>
                </a:solidFill>
                <a:latin typeface="GenEi M Gothic v2 Medium"/>
                <a:ea typeface="GenEi M Gothic v2 Medium"/>
                <a:cs typeface="GenEi M Gothic v2 Medium"/>
              </a:rPr>
              <a:t>→ 土台の実力（出発点）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128016" cy="1371600"/>
          </a:xfrm>
          <a:prstGeom prst="roundRect">
            <a:avLst>
              <a:gd name="adj" fmla="val 50000"/>
            </a:avLst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11095"/>
            <a:ext cx="4681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A6B78"/>
                </a:solidFill>
                <a:latin typeface="GenEi M Gothic v2 Bold"/>
                <a:ea typeface="GenEi M Gothic v2 Bold"/>
                <a:cs typeface="GenEi M Gothic v2 Bold"/>
              </a:rPr>
              <a:t>② 素の議論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313432"/>
            <a:ext cx="4590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性格なしの同じモデル3体で議論。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770632"/>
            <a:ext cx="4590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A6B78"/>
                </a:solidFill>
                <a:latin typeface="GenEi M Gothic v2 Medium"/>
                <a:ea typeface="GenEi M Gothic v2 Medium"/>
                <a:cs typeface="GenEi M Gothic v2 Medium"/>
              </a:rPr>
              <a:t>→ 議論そのものの効果を見る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55848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355848"/>
            <a:ext cx="128016" cy="1371600"/>
          </a:xfrm>
          <a:prstGeom prst="roundRect">
            <a:avLst>
              <a:gd name="adj" fmla="val 50000"/>
            </a:avLst>
          </a:prstGeom>
          <a:solidFill>
            <a:srgbClr val="546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483864"/>
            <a:ext cx="4681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46170"/>
                </a:solidFill>
                <a:latin typeface="GenEi M Gothic v2 Bold"/>
                <a:ea typeface="GenEi M Gothic v2 Bold"/>
                <a:cs typeface="GenEi M Gothic v2 Bold"/>
              </a:rPr>
              <a:t>③ 多数決9回（SC@9）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3886200"/>
            <a:ext cx="4590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同じモデルが9回バラバラに解いて多数決。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4343400"/>
            <a:ext cx="4590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46170"/>
                </a:solidFill>
                <a:latin typeface="GenEi M Gothic v2 Medium"/>
                <a:ea typeface="GenEi M Gothic v2 Medium"/>
                <a:cs typeface="GenEi M Gothic v2 Medium"/>
              </a:rPr>
              <a:t>→ 最強の比較相手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355848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3355848"/>
            <a:ext cx="128016" cy="1371600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483864"/>
            <a:ext cx="4681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④ LoRAチーム（本命）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3886200"/>
            <a:ext cx="45902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3つの性格を持たせ、賢さを保って議論・投票するチーム。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343400"/>
            <a:ext cx="4590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E6E8E"/>
                </a:solidFill>
                <a:latin typeface="GenEi M Gothic v2 Medium"/>
                <a:ea typeface="GenEi M Gothic v2 Medium"/>
                <a:cs typeface="GenEi M Gothic v2 Medium"/>
              </a:rPr>
              <a:t>→ 本研究の提案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07492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FBFAF7"/>
          </a:solidFill>
          <a:ln w="1270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23036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3つのテスト：</a:t>
            </a:r>
            <a:r>
              <a:rPr sz="12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一般知識・推論（MMLU-Pro）／ 数学（MATH-500）／ 大学院級の科学（SuperGPQA）。　</a:t>
            </a:r>
            <a:r>
              <a:rPr sz="125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計算環境：</a:t>
            </a:r>
            <a:r>
              <a:rPr sz="12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クラウド上のGPU。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公平のため、同じ問題で条件どうしを“対戦”させ、統計検定（多重比較の補正つき）で判定。乱数の種を変えても結果が変わらないかも確認。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20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発見①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議論が効く問題・効かない問題がある（領域依存）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domain_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15536"/>
            <a:ext cx="6126480" cy="35755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1920240"/>
            <a:ext cx="42062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同じ「素の議論」でも、</a:t>
            </a:r>
            <a:r>
              <a:rPr sz="15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問題の種類で結果が逆転</a:t>
            </a:r>
            <a:r>
              <a:rPr sz="15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しました。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数学や科学では議論すると上がる。でも一般知識では、むしろ下がってしまう。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鍵は</a:t>
            </a:r>
            <a:r>
              <a:rPr sz="145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「答えを確かめられるか」</a:t>
            </a: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。確かめられる問題では、議論が正しい方向に働く（さっきの数学デモと同じ）。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この“反転”は、先行研究の食い違い（議論は効く／効かない）も説明できます。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21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発見②（看板の答え合わせ）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進化は“強化”ではなく“修復”だった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6400800" cy="35905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874519"/>
            <a:ext cx="39319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看板だった進化を6世代回した結果——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B4553F"/>
                </a:solidFill>
                <a:latin typeface="GenEi M Gothic v2 Bold"/>
                <a:ea typeface="GenEi M Gothic v2 Bold"/>
                <a:cs typeface="GenEi M Gothic v2 Bold"/>
              </a:rPr>
              <a:t>動いたのは数学だけ（+4.3点）。他はほぼゼロ。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しかも重みの“向き”だけが回り、“大きさ”は変わっていなかった。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＝進化は個体を強くしたのではなく、性格を教えた時の“壊れ”を少し戻す</a:t>
            </a:r>
            <a:r>
              <a:rPr sz="140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修復として働いた</a:t>
            </a:r>
            <a:r>
              <a:rPr sz="14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→ 同じ修復は、リプレイ（復習）の方が確実。だから最良チームはリプレイで仕上げた。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22 /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最終結果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LoRAチームは“ベースと互角”。ただし多数決9回には届かない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fin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29" y="1554480"/>
            <a:ext cx="6800381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783080"/>
            <a:ext cx="3429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LoRAチーム（青）は3種目とも</a:t>
            </a:r>
            <a:r>
              <a:rPr sz="1300" b="0">
                <a:solidFill>
                  <a:srgbClr val="3F7D5A"/>
                </a:solidFill>
                <a:latin typeface="GenEi M Gothic v2 Bold"/>
                <a:ea typeface="GenEi M Gothic v2 Bold"/>
                <a:cs typeface="GenEi M Gothic v2 Bold"/>
              </a:rPr>
              <a:t>ベース単体と互角</a:t>
            </a: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数学では</a:t>
            </a:r>
            <a:r>
              <a:rPr sz="130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多数決9回に肩を並べた</a:t>
            </a: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79476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BFAF7"/>
          </a:solidFill>
          <a:ln w="1397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3950208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総合の判定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3F7D5A"/>
                </a:solidFill>
                <a:latin typeface="GenEi M Gothic v2 Bold"/>
                <a:ea typeface="GenEi M Gothic v2 Bold"/>
                <a:cs typeface="GenEi M Gothic v2 Bold"/>
              </a:rPr>
              <a:t>○ ベース単体と互角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B4553F"/>
                </a:solidFill>
                <a:latin typeface="GenEi M Gothic v2 Bold"/>
                <a:ea typeface="GenEi M Gothic v2 Bold"/>
                <a:cs typeface="GenEi M Gothic v2 Bold"/>
              </a:rPr>
              <a:t>× 多数決9回に −3.0点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＝工夫を尽くしても素朴な強敵に勝てなかった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23 / 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51460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>
                <a:solidFill>
                  <a:srgbClr val="C67A4E"/>
                </a:solidFill>
                <a:latin typeface="GenEi M Gothic v2 Black"/>
                <a:ea typeface="GenEi M Gothic v2 Black"/>
                <a:cs typeface="GenEi M Gothic v2 Black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4612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0">
                <a:solidFill>
                  <a:srgbClr val="FFFFFF"/>
                </a:solidFill>
                <a:latin typeface="GenEi M Gothic v2 Black"/>
                <a:ea typeface="GenEi M Gothic v2 Black"/>
                <a:cs typeface="GenEi M Gothic v2 Black"/>
              </a:rPr>
              <a:t>考察・結論・今後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7CED4"/>
                </a:solidFill>
                <a:latin typeface="GenEi M Gothic v2 Regular"/>
                <a:ea typeface="GenEi M Gothic v2 Regular"/>
                <a:cs typeface="GenEi M Gothic v2 Regular"/>
              </a:rPr>
              <a:t>なぜこうなったのか。何が言えて、次に何をするか。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考察①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なぜ勝てないのか？ でも、どこに価値があるのか？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6583680" cy="28087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828800"/>
            <a:ext cx="38404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多数決9回は、</a:t>
            </a:r>
            <a:r>
              <a:rPr sz="1450" b="0">
                <a:solidFill>
                  <a:srgbClr val="5A6B78"/>
                </a:solidFill>
                <a:latin typeface="GenEi M Gothic v2 Bold"/>
                <a:ea typeface="GenEi M Gothic v2 Bold"/>
                <a:cs typeface="GenEi M Gothic v2 Bold"/>
              </a:rPr>
              <a:t>独立した9票</a:t>
            </a: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の“数の力”が強い。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チームは実質3つの視点しかなく、議論でその差を埋めきれなかった。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ただし</a:t>
            </a:r>
            <a:r>
              <a:rPr sz="1450" b="0">
                <a:solidFill>
                  <a:srgbClr val="3F7D5A"/>
                </a:solidFill>
                <a:latin typeface="GenEi M Gothic v2 Bold"/>
                <a:ea typeface="GenEi M Gothic v2 Bold"/>
                <a:cs typeface="GenEi M Gothic v2 Bold"/>
              </a:rPr>
              <a:t>数学では互角</a:t>
            </a:r>
            <a:r>
              <a:rPr sz="14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。確かめられる問題では、少ない視点でも議論が補える。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12080"/>
            <a:ext cx="10515600" cy="960120"/>
          </a:xfrm>
          <a:prstGeom prst="roundRect">
            <a:avLst>
              <a:gd name="adj" fmla="val 5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76672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4E8D6E"/>
                </a:solidFill>
                <a:latin typeface="GenEi M Gothic v2 Bold"/>
                <a:ea typeface="GenEi M Gothic v2 Bold"/>
                <a:cs typeface="GenEi M Gothic v2 Bold"/>
              </a:rPr>
              <a:t>要するに——</a:t>
            </a:r>
            <a:r>
              <a:rPr sz="14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“数で押す”のが有利な問題と、“話し合い”が活きる問題は別。使い分けが本質。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24 / 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考察②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研究を通じて分かった、2つの大事なこと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74519"/>
            <a:ext cx="105156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看板の進化は“修復”にとどまった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87752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「貢献度で選抜して強くする」という当初の狙いは出なかった。進化は壊れた能力を少し戻す働きで、同じことはリプレイ（復習）の方が確実だった。看板の限界を、実データで突き止めた。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31920"/>
            <a:ext cx="105156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3931920"/>
            <a:ext cx="128016" cy="1874519"/>
          </a:xfrm>
          <a:prstGeom prst="roundRect">
            <a:avLst>
              <a:gd name="adj" fmla="val 50000"/>
            </a:avLst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同じ設定でも“測る環境”で点数が動く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45152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評価プログラムを入れ替えただけで、同じ問題・同じ設定なのに6点ほどズレる現象を発見。しかもベース側だけ過小評価されやすい。→ 比較は必ず同じ環境で。方法論としての教訓。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25 / 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この研究で分かったこと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783080"/>
            <a:ext cx="10515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039112"/>
            <a:ext cx="512064" cy="512064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929384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チームレベルの貢献度で鍛える枠組みを作り、実際に動かした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50008"/>
            <a:ext cx="9418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3体なら貢献度を近似なしで公平に測れる。仕組みとして初めて形にした。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16936"/>
            <a:ext cx="10515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172968"/>
            <a:ext cx="512064" cy="512064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06324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議論の効き方は「領域」で決まる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483864"/>
            <a:ext cx="9418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確かめられる問題では効き、そうでない問題では逆効果。統一的に説明できた。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50791"/>
            <a:ext cx="10515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306824"/>
            <a:ext cx="512064" cy="512064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0682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97096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看板の進化は“修復”だと突き止め、賢さは別の方法で取り戻した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617720"/>
            <a:ext cx="9418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進化は強化でなく修復。能力の毀損はリプレイ（復習）でベース水準まで回復させた。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184648"/>
            <a:ext cx="1051560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5440680"/>
            <a:ext cx="512064" cy="512064"/>
          </a:xfrm>
          <a:prstGeom prst="ellipse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44068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30952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それでも“多数決9回”には勝てない、を厳密に確認（正直な負け）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751576"/>
            <a:ext cx="9418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条件を公平にし、環境の罠も統制した上での結論。数学だけは互角。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26 / 27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今後の展開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次にやること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74519"/>
            <a:ext cx="10515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28016" cy="1234440"/>
          </a:xfrm>
          <a:prstGeom prst="roundRect">
            <a:avLst>
              <a:gd name="adj" fmla="val 50000"/>
            </a:avLst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▶ “いいとこ取り”を試す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328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各メンバーが数回ずつ解いてから議論する（数の力＋話し合いの合わせ技）。今回の結果が指す最有力の次の一手。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46120"/>
            <a:ext cx="10515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128016" cy="1234440"/>
          </a:xfrm>
          <a:prstGeom prst="roundRect">
            <a:avLst>
              <a:gd name="adj" fmla="val 50000"/>
            </a:avLst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▶ 進化のやり方を鍛え直す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04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選抜のノイズを抑える改良版で、進化が“修復”を超えて“発見”になるかを検証する。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617720"/>
            <a:ext cx="10515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3"/>
            </a:solidFill>
          </a:ln>
          <a:effectLst/>
          <a:effectLst>
            <a:outerShdw blurRad="60000" dist="25000" dir="5400000" rotWithShape="0">
              <a:srgbClr val="2228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617720"/>
            <a:ext cx="128016" cy="1234440"/>
          </a:xfrm>
          <a:prstGeom prst="roundRect">
            <a:avLst>
              <a:gd name="adj" fmla="val 50000"/>
            </a:avLst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00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▶ 違う性格・違うモデルを混ぜる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27608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似た者同士ではなく、本当に異質なメンバーを組ませて多様性を最大化する。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556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27 / 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875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GenEi M Gothic v2 Black"/>
                <a:ea typeface="GenEi M Gothic v2 Black"/>
                <a:cs typeface="GenEi M Gothic v2 Black"/>
              </a:rPr>
              <a:t>小さなAIを3体、話し合わせて鍛えた。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E7ECEF"/>
                </a:solidFill>
                <a:latin typeface="GenEi M Gothic v2 Regular"/>
                <a:ea typeface="GenEi M Gothic v2 Regular"/>
                <a:cs typeface="GenEi M Gothic v2 Regular"/>
              </a:rPr>
              <a:t>議論には“効く問題”と“効かない問題”があり、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E7ECEF"/>
                </a:solidFill>
                <a:latin typeface="GenEi M Gothic v2 Regular"/>
                <a:ea typeface="GenEi M Gothic v2 Regular"/>
                <a:cs typeface="GenEi M Gothic v2 Regular"/>
              </a:rPr>
              <a:t>看板の進化は“修復”と分かり、賢さは復習で取り戻した。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F0D9C7"/>
                </a:solidFill>
                <a:latin typeface="GenEi M Gothic v2 Medium"/>
                <a:ea typeface="GenEi M Gothic v2 Medium"/>
                <a:cs typeface="GenEi M Gothic v2 Medium"/>
              </a:rPr>
              <a:t>——ただし、素朴な強敵に勝つのはこれからの宿題。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5577840"/>
            <a:ext cx="3657600" cy="0"/>
          </a:xfrm>
          <a:prstGeom prst="bentConnector3">
            <a:avLst/>
          </a:prstGeom>
          <a:ln w="1905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GenEi M Gothic v2 Regular"/>
                <a:ea typeface="GenEi M Gothic v2 Regular"/>
                <a:cs typeface="GenEi M Gothic v2 Regular"/>
              </a:rPr>
              <a:t>ご清聴ありがとうございました。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6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51460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>
                <a:solidFill>
                  <a:srgbClr val="C67A4E"/>
                </a:solidFill>
                <a:latin typeface="GenEi M Gothic v2 Black"/>
                <a:ea typeface="GenEi M Gothic v2 Black"/>
                <a:cs typeface="GenEi M Gothic v2 Black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4612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0">
                <a:solidFill>
                  <a:srgbClr val="FFFFFF"/>
                </a:solidFill>
                <a:latin typeface="GenEi M Gothic v2 Black"/>
                <a:ea typeface="GenEi M Gothic v2 Black"/>
                <a:cs typeface="GenEi M Gothic v2 Black"/>
              </a:rPr>
              <a:t>付録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9418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7CED4"/>
                </a:solidFill>
                <a:latin typeface="GenEi M Gothic v2 Regular"/>
                <a:ea typeface="GenEi M Gothic v2 Regular"/>
                <a:cs typeface="GenEi M Gothic v2 Regular"/>
              </a:rPr>
              <a:t>数値の詳細・用語・再現性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付録 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最終結果の数値表（正答率 ％・測定環境を統一）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68680" y="1965960"/>
            <a:ext cx="3108960" cy="603504"/>
          </a:xfrm>
          <a:prstGeom prst="rect">
            <a:avLst/>
          </a:prstGeom>
          <a:solidFill>
            <a:srgbClr val="1C2833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2889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条件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1965960"/>
            <a:ext cx="1645920" cy="603504"/>
          </a:xfrm>
          <a:prstGeom prst="rect">
            <a:avLst/>
          </a:prstGeom>
          <a:solidFill>
            <a:srgbClr val="1C2833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05655" y="1965960"/>
            <a:ext cx="142646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一般知識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59" y="1965960"/>
            <a:ext cx="1463040" cy="603504"/>
          </a:xfrm>
          <a:prstGeom prst="rect">
            <a:avLst/>
          </a:prstGeom>
          <a:solidFill>
            <a:srgbClr val="1C2833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51575" y="1965960"/>
            <a:ext cx="124358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数学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965960"/>
            <a:ext cx="1463040" cy="603504"/>
          </a:xfrm>
          <a:prstGeom prst="rect">
            <a:avLst/>
          </a:prstGeom>
          <a:solidFill>
            <a:srgbClr val="1C2833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14616" y="1965960"/>
            <a:ext cx="124358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科学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1965960"/>
            <a:ext cx="3108960" cy="603504"/>
          </a:xfrm>
          <a:prstGeom prst="rect">
            <a:avLst/>
          </a:prstGeom>
          <a:solidFill>
            <a:srgbClr val="1C2833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77656" y="1965960"/>
            <a:ext cx="2889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備考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569464"/>
            <a:ext cx="31089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5" y="2569464"/>
            <a:ext cx="2889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ベース単体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2569464"/>
            <a:ext cx="16459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5655" y="2569464"/>
            <a:ext cx="142646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72.7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59" y="2569464"/>
            <a:ext cx="146304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51575" y="2569464"/>
            <a:ext cx="124358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81.8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2569464"/>
            <a:ext cx="146304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14616" y="2569464"/>
            <a:ext cx="124358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43.1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2569464"/>
            <a:ext cx="31089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77656" y="2569464"/>
            <a:ext cx="2889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1体で1回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172968"/>
            <a:ext cx="3108960" cy="603504"/>
          </a:xfrm>
          <a:prstGeom prst="rect">
            <a:avLst/>
          </a:prstGeom>
          <a:solidFill>
            <a:srgbClr val="FBFAF7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" y="3172968"/>
            <a:ext cx="2889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多数決9回（SC@9）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3172968"/>
            <a:ext cx="1645920" cy="603504"/>
          </a:xfrm>
          <a:prstGeom prst="rect">
            <a:avLst/>
          </a:prstGeom>
          <a:solidFill>
            <a:srgbClr val="FBFAF7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05655" y="3172968"/>
            <a:ext cx="142646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74.0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59" y="3172968"/>
            <a:ext cx="1463040" cy="603504"/>
          </a:xfrm>
          <a:prstGeom prst="rect">
            <a:avLst/>
          </a:prstGeom>
          <a:solidFill>
            <a:srgbClr val="FBFAF7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51575" y="3172968"/>
            <a:ext cx="124358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87.3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3172968"/>
            <a:ext cx="1463040" cy="603504"/>
          </a:xfrm>
          <a:prstGeom prst="rect">
            <a:avLst/>
          </a:prstGeom>
          <a:solidFill>
            <a:srgbClr val="FBFAF7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14616" y="3172968"/>
            <a:ext cx="124358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48.6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49640" y="3172968"/>
            <a:ext cx="3108960" cy="603504"/>
          </a:xfrm>
          <a:prstGeom prst="rect">
            <a:avLst/>
          </a:prstGeom>
          <a:solidFill>
            <a:srgbClr val="FBFAF7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77656" y="3172968"/>
            <a:ext cx="2889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最強の比較相手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3776472"/>
            <a:ext cx="31089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5" y="3776472"/>
            <a:ext cx="2889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2303C"/>
                </a:solidFill>
                <a:latin typeface="GenEi M Gothic v2 Bold"/>
                <a:ea typeface="GenEi M Gothic v2 Bold"/>
                <a:cs typeface="GenEi M Gothic v2 Bold"/>
              </a:rPr>
              <a:t>LoRAチーム（本命）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77639" y="3776472"/>
            <a:ext cx="16459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05655" y="3776472"/>
            <a:ext cx="142646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71.6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23559" y="3776472"/>
            <a:ext cx="146304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51575" y="3776472"/>
            <a:ext cx="124358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86.7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86600" y="3776472"/>
            <a:ext cx="146304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14616" y="3776472"/>
            <a:ext cx="124358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43.1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3776472"/>
            <a:ext cx="31089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77656" y="3776472"/>
            <a:ext cx="2889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E6E8E"/>
                </a:solidFill>
                <a:latin typeface="GenEi M Gothic v2 Bold"/>
                <a:ea typeface="GenEi M Gothic v2 Bold"/>
                <a:cs typeface="GenEi M Gothic v2 Bold"/>
              </a:rPr>
              <a:t>ベースと互角・数学は差なし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489204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・数学（MATH-500）では差は検出されず（−0.8点, 有意差なし。±2点の同等性は未確定）。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/>
            </a:r>
            <a:r>
              <a:rPr sz="12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・総合（6,000問）では、LoRAチームは多数決9回に −3.0点（有意）。ベース単体とは互角（+0.3点）。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/>
            </a:r>
            <a:r>
              <a:rPr sz="120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・多数決9回とLoRAチームは6シード、ベース単体・素の議論などは3シードで測定。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6455664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付録 A1 /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付録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3つの性格に与えた実際の指示文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96596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276856"/>
            <a:ext cx="1371600" cy="438912"/>
          </a:xfrm>
          <a:prstGeom prst="roundRect">
            <a:avLst>
              <a:gd name="adj" fmla="val 40000"/>
            </a:avLst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76856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批判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148840"/>
            <a:ext cx="8412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「あなたは厳密な検証を重視する批判的思考家。反証・例外・境界条件に敏感。」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82112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3493008"/>
            <a:ext cx="1371600" cy="438912"/>
          </a:xfrm>
          <a:prstGeom prst="roundRect">
            <a:avLst>
              <a:gd name="adj" fmla="val 40000"/>
            </a:avLst>
          </a:prstGeom>
          <a:solidFill>
            <a:srgbClr val="4E8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930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実務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364992"/>
            <a:ext cx="8412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「あなたは応用志向の実務家。意思決定に役立つ実装可能性とコストを重視。」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98264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F1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4709160"/>
            <a:ext cx="1371600" cy="438912"/>
          </a:xfrm>
          <a:prstGeom prst="roundRect">
            <a:avLst>
              <a:gd name="adj" fmla="val 40000"/>
            </a:avLst>
          </a:prstGeom>
          <a:solidFill>
            <a:srgbClr val="8E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探索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581144"/>
            <a:ext cx="8412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「あなたは創発を促す発想家。仮説生成と多角的比喩で発想を広げる。」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5A6B78"/>
                </a:solidFill>
                <a:latin typeface="GenEi M Gothic v2 Regular"/>
                <a:ea typeface="GenEi M Gothic v2 Regular"/>
                <a:cs typeface="GenEi M Gothic v2 Regular"/>
              </a:rPr>
              <a:t>たった1文ずつ。これだけで、デモで見たような異なる解き方が生まれます。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55664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付録 A2 / 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7A4E"/>
                </a:solidFill>
                <a:latin typeface="GenEi M Gothic v2 Bold"/>
                <a:ea typeface="GenEi M Gothic v2 Bold"/>
                <a:cs typeface="GenEi M Gothic v2 Bold"/>
              </a:rPr>
              <a:t>付録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0">
                <a:solidFill>
                  <a:srgbClr val="22303C"/>
                </a:solidFill>
                <a:latin typeface="GenEi M Gothic v2 Heavy"/>
                <a:ea typeface="GenEi M Gothic v2 Heavy"/>
                <a:cs typeface="GenEi M Gothic v2 Heavy"/>
              </a:rPr>
              <a:t>用語ミニ辞典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536192"/>
            <a:ext cx="1005840" cy="0"/>
          </a:xfrm>
          <a:prstGeom prst="bentConnector3">
            <a:avLst/>
          </a:prstGeom>
          <a:ln w="33020">
            <a:solidFill>
              <a:srgbClr val="C67A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28800"/>
            <a:ext cx="3383280" cy="749808"/>
          </a:xfrm>
          <a:prstGeom prst="roundRect">
            <a:avLst>
              <a:gd name="adj" fmla="val 8000"/>
            </a:avLst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30175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LoRA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69951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6583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土台モデルに足す小さな“追加重み”。少ない容量で性格や技能を足せる。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97480"/>
            <a:ext cx="3383280" cy="749808"/>
          </a:xfrm>
          <a:prstGeom prst="roundRect">
            <a:avLst>
              <a:gd name="adj" fmla="val 8000"/>
            </a:avLst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30175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リプレイ（復習）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697480"/>
            <a:ext cx="69951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697480"/>
            <a:ext cx="6583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元モデル自身の長い正しい解答を学習に混ぜ、賢さの毀損を防ぐ手法。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66160"/>
            <a:ext cx="3383280" cy="749808"/>
          </a:xfrm>
          <a:prstGeom prst="roundRect">
            <a:avLst>
              <a:gd name="adj" fmla="val 8000"/>
            </a:avLst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30175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SC@9 / 多数決9回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566160"/>
            <a:ext cx="69951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566160"/>
            <a:ext cx="6583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同じAIに9回バラバラに解かせ、多数決を取る素朴で強い方法。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34840"/>
            <a:ext cx="3383280" cy="749808"/>
          </a:xfrm>
          <a:prstGeom prst="roundRect">
            <a:avLst>
              <a:gd name="adj" fmla="val 8000"/>
            </a:avLst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34840"/>
            <a:ext cx="30175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Shapley値（貢献度）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434840"/>
            <a:ext cx="69951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4434840"/>
            <a:ext cx="6583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「その人が抜けたらどれだけ困るか」を全組み合わせで公平に測った値。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303520"/>
            <a:ext cx="3383280" cy="749808"/>
          </a:xfrm>
          <a:prstGeom prst="roundRect">
            <a:avLst>
              <a:gd name="adj" fmla="val 8000"/>
            </a:avLst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03520"/>
            <a:ext cx="30175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GenEi M Gothic v2 Bold"/>
                <a:ea typeface="GenEi M Gothic v2 Bold"/>
                <a:cs typeface="GenEi M Gothic v2 Bold"/>
              </a:rPr>
              <a:t>MMLU-Pro / MATH-500 / SuperGPQA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5303520"/>
            <a:ext cx="69951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5303520"/>
            <a:ext cx="65836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303C"/>
                </a:solidFill>
                <a:latin typeface="GenEi M Gothic v2 Regular"/>
                <a:ea typeface="GenEi M Gothic v2 Regular"/>
                <a:cs typeface="GenEi M Gothic v2 Regular"/>
              </a:rPr>
              <a:t>順に、一般知識・推論／数学／大学院級科学の標準テスト。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LoRAエージェント集団の進化 ／ 研究進捗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55664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39EA8"/>
                </a:solidFill>
                <a:latin typeface="GenEi M Gothic v2 Regular"/>
                <a:ea typeface="GenEi M Gothic v2 Regular"/>
                <a:cs typeface="GenEi M Gothic v2 Regular"/>
              </a:rPr>
              <a:t>付録 A3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